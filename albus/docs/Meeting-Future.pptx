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16669915" r:id="rId2"/>
    <p:sldId id="16669926" r:id="rId3"/>
    <p:sldId id="16669934" r:id="rId4"/>
    <p:sldId id="16670063" r:id="rId5"/>
    <p:sldId id="16670065" r:id="rId6"/>
    <p:sldId id="16670064" r:id="rId7"/>
    <p:sldId id="16670066" r:id="rId8"/>
    <p:sldId id="16670067" r:id="rId9"/>
    <p:sldId id="16670068" r:id="rId10"/>
    <p:sldId id="16670069" r:id="rId11"/>
    <p:sldId id="16670070" r:id="rId12"/>
    <p:sldId id="16670071" r:id="rId13"/>
    <p:sldId id="16670072" r:id="rId14"/>
    <p:sldId id="16670074" r:id="rId15"/>
    <p:sldId id="16670080" r:id="rId16"/>
    <p:sldId id="16670075" r:id="rId17"/>
    <p:sldId id="16670076" r:id="rId18"/>
    <p:sldId id="16670078" r:id="rId19"/>
    <p:sldId id="16670079" r:id="rId20"/>
    <p:sldId id="16670081" r:id="rId21"/>
    <p:sldId id="16670082" r:id="rId22"/>
    <p:sldId id="16670083" r:id="rId23"/>
    <p:sldId id="16670084" r:id="rId24"/>
    <p:sldId id="16670085" r:id="rId25"/>
    <p:sldId id="16670086" r:id="rId26"/>
    <p:sldId id="16670087" r:id="rId27"/>
    <p:sldId id="16670088" r:id="rId28"/>
    <p:sldId id="16670089" r:id="rId29"/>
    <p:sldId id="16670090" r:id="rId30"/>
    <p:sldId id="16670091" r:id="rId31"/>
    <p:sldId id="16670092" r:id="rId32"/>
    <p:sldId id="16669956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6E4F0"/>
    <a:srgbClr val="FFFFFF"/>
    <a:srgbClr val="CED5DD"/>
    <a:srgbClr val="BF1717"/>
    <a:srgbClr val="DAC292"/>
    <a:srgbClr val="D5C297"/>
    <a:srgbClr val="E0C57A"/>
    <a:srgbClr val="760000"/>
    <a:srgbClr val="9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33" autoAdjust="0"/>
    <p:restoredTop sz="94660"/>
  </p:normalViewPr>
  <p:slideViewPr>
    <p:cSldViewPr snapToGrid="0">
      <p:cViewPr varScale="1">
        <p:scale>
          <a:sx n="82" d="100"/>
          <a:sy n="82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4A7F67-F846-46EA-8082-9F67FA8D1C07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34C8A-2AB3-44AC-84FE-44DD1F1732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272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34C8A-2AB3-44AC-84FE-44DD1F17321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674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8CF07-6EA8-5B43-732E-D3DD2F33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207FFE-BC0C-2851-7DEE-57B02293A8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4F8544-1C02-86BE-9C93-25EDA1665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FAE360-8BE7-6A05-49C6-FCE899B0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34C8A-2AB3-44AC-84FE-44DD1F17321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572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FAEFC-BEB7-5BDA-2636-4F63F9A55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D0B16F6-DFBC-BF04-EF42-AC62DD706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5B477C-B654-2E89-05A1-5191CD63A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90A78F-0367-F0F7-44E5-39F00A723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34C8A-2AB3-44AC-84FE-44DD1F17321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058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00585-8CEB-D0CC-EF07-C30691921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360316-A909-EA82-6F78-FB386E390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D2F75CE-3ADD-BEB9-B026-23D881912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C2E5CD-5600-3032-9665-6EB79AA14C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34C8A-2AB3-44AC-84FE-44DD1F17321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50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D9152-BCE7-E8A9-E622-B554FD20E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C88EEF-058D-89F4-C459-5698C37D0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2018FA-3A8C-0FA1-9FC4-895457463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E15FCD-D0E5-C528-CF7F-28CB2BF476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34C8A-2AB3-44AC-84FE-44DD1F173216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851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94E8F-81DA-BB4D-8E5A-0BCB0837A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56478E-7069-C919-2215-52D6984D3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99793F-468A-E444-E77D-B4BB4856FC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212C0D-E344-D5B7-3A4B-AE9638D41E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34C8A-2AB3-44AC-84FE-44DD1F173216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201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34C8A-2AB3-44AC-84FE-44DD1F173216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455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>
          <a:xfrm>
            <a:off x="1248042" y="231000"/>
            <a:ext cx="3643312" cy="406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2800" b="1" spc="3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FEDC58-3A32-3E29-719C-F04917DA31EA}"/>
              </a:ext>
            </a:extLst>
          </p:cNvPr>
          <p:cNvSpPr/>
          <p:nvPr userDrawn="1"/>
        </p:nvSpPr>
        <p:spPr>
          <a:xfrm>
            <a:off x="481013" y="251517"/>
            <a:ext cx="106362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5C4CCD-0D04-ECB8-8643-B646B1EF301E}"/>
              </a:ext>
            </a:extLst>
          </p:cNvPr>
          <p:cNvSpPr/>
          <p:nvPr userDrawn="1"/>
        </p:nvSpPr>
        <p:spPr>
          <a:xfrm>
            <a:off x="646906" y="251517"/>
            <a:ext cx="545307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79DCEBF-0693-8EF9-2797-CD919B26BFF1}"/>
              </a:ext>
            </a:extLst>
          </p:cNvPr>
          <p:cNvCxnSpPr>
            <a:cxnSpLocks/>
          </p:cNvCxnSpPr>
          <p:nvPr userDrawn="1"/>
        </p:nvCxnSpPr>
        <p:spPr>
          <a:xfrm>
            <a:off x="491331" y="769865"/>
            <a:ext cx="1120933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68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BCB69B7-24FD-A137-D039-12F19A35CD99}"/>
              </a:ext>
            </a:extLst>
          </p:cNvPr>
          <p:cNvSpPr/>
          <p:nvPr userDrawn="1"/>
        </p:nvSpPr>
        <p:spPr>
          <a:xfrm>
            <a:off x="0" y="1953000"/>
            <a:ext cx="12192000" cy="2952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alpha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928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A765DC-8916-742A-9F7B-52CA4AA36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68CD1A-8361-1B0F-F527-FE9C9B3AE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924F11-CD91-EFCF-C85F-8421BCAE7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57519B-233A-29A2-5A76-4C633CD4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7F9033-E1F5-6558-6157-3CEE871D4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608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8F3588-CFCB-E987-A09B-F04C125FE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9F3821-3675-68D5-7CBB-7D13FFD6C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79742E-BF29-4B3C-9354-EAAABE63B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03393-5E48-5493-9E89-F8392CCFB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D6076C-7F57-BF1D-4BF7-9A243E114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73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5F1E4F-6369-D767-FFB9-9C2798506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903D14-BEF3-9412-1C98-CD7579DBF9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C78879-0D29-5532-990E-9A2D538F0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C76E8F-159C-1C6F-E554-8C33C14C5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F7A6CB-6E5E-6104-F6EB-CE9C000A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E6DFB6-DDD6-5C68-9BF3-48C67CA33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910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F28128-9598-BEA7-A141-62D66FC7F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0E6FDE-1691-FCA5-E09C-A8CBA769E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B47825-CD5A-70B3-4828-A91506CFC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7A07D8D-DAEB-0980-3B09-33566988BA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E29B871-FC8D-820A-D2DF-156FB9FA20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124AA1-C6F3-4B95-5146-37DE79E23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0118108-225F-035F-9ED9-5A3DF6118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E49D67-5A94-F883-6CBB-E948663A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085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62088F-CE99-9511-0D58-10E7E09EC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879943-A461-7788-D5B7-C363818DE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53E2A4-C241-DAA6-95EF-1FFF978F1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B49107C-F8C6-1ADF-2A11-44DEFC43F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483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6DD037-084D-5969-BDB0-96B4B4EF4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7B3A36-225F-B5F9-1F60-A79DBC0F8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696FBC-B11A-4F98-4AFA-6A072DA9E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35D4C0-E652-D285-ADF5-827630B30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379900-84B9-7D53-6692-D834249F7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35CB51-E9F7-A2E6-DEB8-994A71B9D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6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069955-819F-38B7-A53C-C3F083576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3ED81C5-6AF7-5843-B499-0EF33F1FAD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435D13-F454-0133-2F68-3249D1132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4D39C8-89D2-4D38-03F9-C244F4FF7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44B0DE-81D4-2C66-06FB-593983580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F3BB67-BFAE-A1B5-692A-7356D5BC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64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F8A812-675F-F0BC-CE7F-9232840F8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A488E5E-51CA-9BF5-7DE3-0C1963F38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EA9526-37CC-3152-4B7C-43A5576AD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6ADCAA-620D-8487-49EC-D32BB2D55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21FA31-8498-65F7-3955-7080E6DD0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019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E383B8D-1FAC-EF7F-70E6-02912B47DB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96993-A809-AA53-5A6B-93659EC5B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95B41A-DECD-A1B5-9843-B8BFA54E7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8A3E5A-88F5-60A5-5665-D032486E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FE67B-BBB7-A134-E165-43C78B27E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530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5571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7AE946E-D222-3903-1FCD-FD2389A15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22A419-1478-87FC-25A2-2D28EDB1A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680261-63AD-2E7D-1C09-7422419482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DBA34-7A7E-4808-AB87-0F41496EB64D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B33230-5999-95D8-8346-2E0D62B2A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C8E8B0-DDAB-1BF8-21C1-2D67267678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091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5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51C76-547E-FB66-0D37-261DF7D63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2187EEBD-8A46-11BB-B9BF-03154F053D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4719"/>
            <a:ext cx="12192001" cy="467359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3F22141-1451-5465-B645-FFE874980754}"/>
              </a:ext>
            </a:extLst>
          </p:cNvPr>
          <p:cNvSpPr/>
          <p:nvPr/>
        </p:nvSpPr>
        <p:spPr>
          <a:xfrm>
            <a:off x="0" y="0"/>
            <a:ext cx="12192000" cy="4673600"/>
          </a:xfrm>
          <a:prstGeom prst="rect">
            <a:avLst/>
          </a:prstGeom>
          <a:gradFill>
            <a:gsLst>
              <a:gs pos="100000">
                <a:schemeClr val="accent1">
                  <a:alpha val="20000"/>
                </a:schemeClr>
              </a:gs>
              <a:gs pos="0">
                <a:schemeClr val="accent1">
                  <a:alpha val="8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AEAB3D1-814D-FB50-60BC-68094B33B959}"/>
              </a:ext>
            </a:extLst>
          </p:cNvPr>
          <p:cNvSpPr/>
          <p:nvPr/>
        </p:nvSpPr>
        <p:spPr>
          <a:xfrm>
            <a:off x="696000" y="948880"/>
            <a:ext cx="10800000" cy="5237706"/>
          </a:xfrm>
          <a:prstGeom prst="roundRect">
            <a:avLst>
              <a:gd name="adj" fmla="val 4424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845AA50-4CC9-7DAF-E302-C3059C1AE863}"/>
              </a:ext>
            </a:extLst>
          </p:cNvPr>
          <p:cNvCxnSpPr>
            <a:cxnSpLocks/>
          </p:cNvCxnSpPr>
          <p:nvPr/>
        </p:nvCxnSpPr>
        <p:spPr>
          <a:xfrm>
            <a:off x="2414260" y="9530927"/>
            <a:ext cx="8119382" cy="0"/>
          </a:xfrm>
          <a:prstGeom prst="line">
            <a:avLst/>
          </a:prstGeom>
          <a:ln w="9525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74D47AFC-04D8-D29F-26E3-967A44DD47FA}"/>
              </a:ext>
            </a:extLst>
          </p:cNvPr>
          <p:cNvSpPr txBox="1"/>
          <p:nvPr/>
        </p:nvSpPr>
        <p:spPr>
          <a:xfrm>
            <a:off x="3638765" y="3852581"/>
            <a:ext cx="5104768" cy="94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kern="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Case by CSI300 Daily Data and LightGBM Model</a:t>
            </a:r>
            <a:endParaRPr lang="zh-CN" altLang="en-US" sz="2400" kern="0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FCADE7A-8293-CCC2-C88F-546B1197B4B9}"/>
              </a:ext>
            </a:extLst>
          </p:cNvPr>
          <p:cNvSpPr txBox="1"/>
          <p:nvPr/>
        </p:nvSpPr>
        <p:spPr>
          <a:xfrm>
            <a:off x="2998845" y="1527896"/>
            <a:ext cx="6194324" cy="17900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4800" b="1" kern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Quant Research by </a:t>
            </a:r>
          </a:p>
          <a:p>
            <a:pPr algn="ctr">
              <a:lnSpc>
                <a:spcPct val="120000"/>
              </a:lnSpc>
            </a:pPr>
            <a:r>
              <a:rPr lang="en-US" altLang="zh-CN" sz="4800" b="1" kern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Machine Learning</a:t>
            </a:r>
            <a:endParaRPr lang="zh-CN" altLang="en-US" sz="4800" b="1" kern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668AB5E-2002-E55D-D183-918112BB272F}"/>
              </a:ext>
            </a:extLst>
          </p:cNvPr>
          <p:cNvSpPr/>
          <p:nvPr/>
        </p:nvSpPr>
        <p:spPr>
          <a:xfrm>
            <a:off x="3752321" y="5341814"/>
            <a:ext cx="1920060" cy="39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 defTabSz="914377">
              <a:defRPr/>
            </a:pP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Yuxuan WANG</a:t>
            </a: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4C829AC-FD75-41E0-4C56-58D77C586F41}"/>
              </a:ext>
            </a:extLst>
          </p:cNvPr>
          <p:cNvSpPr/>
          <p:nvPr/>
        </p:nvSpPr>
        <p:spPr>
          <a:xfrm>
            <a:off x="6042701" y="5341814"/>
            <a:ext cx="2403936" cy="39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 defTabSz="914377">
              <a:defRPr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 June 2026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4ECCD7E-4DCC-7954-8562-10BDDB72AD67}"/>
              </a:ext>
            </a:extLst>
          </p:cNvPr>
          <p:cNvCxnSpPr>
            <a:cxnSpLocks/>
          </p:cNvCxnSpPr>
          <p:nvPr/>
        </p:nvCxnSpPr>
        <p:spPr>
          <a:xfrm>
            <a:off x="8586931" y="4127159"/>
            <a:ext cx="21600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EC6945B-8282-AA7D-A8C7-675949B86661}"/>
              </a:ext>
            </a:extLst>
          </p:cNvPr>
          <p:cNvCxnSpPr>
            <a:cxnSpLocks/>
          </p:cNvCxnSpPr>
          <p:nvPr/>
        </p:nvCxnSpPr>
        <p:spPr>
          <a:xfrm>
            <a:off x="1421887" y="4215318"/>
            <a:ext cx="21600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628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4208C-F4D8-3F68-7048-D7A452870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ECAA926-10C4-6D28-5D32-F80ABC5C5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033" cy="285957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32CAFD0-76AB-14A7-295E-0EA092FE2D71}"/>
              </a:ext>
            </a:extLst>
          </p:cNvPr>
          <p:cNvSpPr/>
          <p:nvPr/>
        </p:nvSpPr>
        <p:spPr>
          <a:xfrm>
            <a:off x="0" y="-16942"/>
            <a:ext cx="12192000" cy="287652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20000"/>
                </a:schemeClr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8" name="文本框 7" descr="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">
            <a:extLst>
              <a:ext uri="{FF2B5EF4-FFF2-40B4-BE49-F238E27FC236}">
                <a16:creationId xmlns:a16="http://schemas.microsoft.com/office/drawing/2014/main" id="{D037DFDE-9274-6F87-065C-998D8110E4C6}"/>
              </a:ext>
            </a:extLst>
          </p:cNvPr>
          <p:cNvSpPr txBox="1"/>
          <p:nvPr/>
        </p:nvSpPr>
        <p:spPr>
          <a:xfrm>
            <a:off x="484038" y="890437"/>
            <a:ext cx="56892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800" b="1">
                <a:solidFill>
                  <a:schemeClr val="bg1"/>
                </a:solidFill>
                <a:effectLst>
                  <a:outerShdw blurRad="101600" dist="1016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algn="l"/>
            <a:r>
              <a:rPr lang="en-US" altLang="zh-CN" sz="72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6A2BC87-225B-FB15-0AF5-E9F3F094914E}"/>
              </a:ext>
            </a:extLst>
          </p:cNvPr>
          <p:cNvSpPr/>
          <p:nvPr/>
        </p:nvSpPr>
        <p:spPr>
          <a:xfrm>
            <a:off x="1312160" y="3532096"/>
            <a:ext cx="825449" cy="82544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667"/>
          </a:p>
        </p:txBody>
      </p:sp>
      <p:sp>
        <p:nvSpPr>
          <p:cNvPr id="27" name="文本框 26" descr="e7d195523061f1c09e9d68d7cf438b91ef959ecb14fc25d26BBA7F7DBC18E55DFF4014AF651F0BF2569D4B6C1DA7F1A4683A481403BD872FC687266AD13265C1DE7C373772FD8728ABDD69ADD03BFF5BE2862BC891DBB79EB73C15828F0DF1DC2F0B1C670C38CB84D872D3C6C609B3C2C95C34232EA5F7BBA4BF190274E430E03C02613D2AC7931007E66AA5AE319EC6">
            <a:extLst>
              <a:ext uri="{FF2B5EF4-FFF2-40B4-BE49-F238E27FC236}">
                <a16:creationId xmlns:a16="http://schemas.microsoft.com/office/drawing/2014/main" id="{E1CA0E08-1513-FACB-0B67-3A6A7A26186E}"/>
              </a:ext>
            </a:extLst>
          </p:cNvPr>
          <p:cNvSpPr txBox="1"/>
          <p:nvPr/>
        </p:nvSpPr>
        <p:spPr>
          <a:xfrm>
            <a:off x="2169906" y="3678850"/>
            <a:ext cx="2384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CSI Daily Data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BBF7057C-7F64-FDDE-52D4-0A17A2C07CE1}"/>
              </a:ext>
            </a:extLst>
          </p:cNvPr>
          <p:cNvSpPr/>
          <p:nvPr/>
        </p:nvSpPr>
        <p:spPr>
          <a:xfrm>
            <a:off x="5043990" y="3465257"/>
            <a:ext cx="825449" cy="82544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667"/>
          </a:p>
        </p:txBody>
      </p:sp>
      <p:sp>
        <p:nvSpPr>
          <p:cNvPr id="38" name="文本框 37" descr="e7d195523061f1c09e9d68d7cf438b91ef959ecb14fc25d26BBA7F7DBC18E55DFF4014AF651F0BF2569D4B6C1DA7F1A4683A481403BD872FC687266AD13265C1DE7C373772FD8728ABDD69ADD03BFF5BE2862BC891DBB79EB73C15828F0DF1DC2F0B1C670C38CB84D872D3C6C609B3C2C95C34232EA5F7BBA4BF190274E430E03C02613D2AC7931007E66AA5AE319EC6">
            <a:extLst>
              <a:ext uri="{FF2B5EF4-FFF2-40B4-BE49-F238E27FC236}">
                <a16:creationId xmlns:a16="http://schemas.microsoft.com/office/drawing/2014/main" id="{E5D1A96E-0786-01B3-7423-50C3791AA11F}"/>
              </a:ext>
            </a:extLst>
          </p:cNvPr>
          <p:cNvSpPr txBox="1"/>
          <p:nvPr/>
        </p:nvSpPr>
        <p:spPr>
          <a:xfrm>
            <a:off x="5943337" y="3598475"/>
            <a:ext cx="2103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Alpha 158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49A43D96-96C4-1C43-50EA-4C8D7DDE97EF}"/>
              </a:ext>
            </a:extLst>
          </p:cNvPr>
          <p:cNvSpPr/>
          <p:nvPr/>
        </p:nvSpPr>
        <p:spPr>
          <a:xfrm>
            <a:off x="8100810" y="3449248"/>
            <a:ext cx="825449" cy="82544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667"/>
          </a:p>
        </p:txBody>
      </p:sp>
      <p:sp>
        <p:nvSpPr>
          <p:cNvPr id="45" name="文本框 44" descr="e7d195523061f1c09e9d68d7cf438b91ef959ecb14fc25d26BBA7F7DBC18E55DFF4014AF651F0BF2569D4B6C1DA7F1A4683A481403BD872FC687266AD13265C1DE7C373772FD8728ABDD69ADD03BFF5BE2862BC891DBB79EB73C15828F0DF1DC2F0B1C670C38CB84D872D3C6C609B3C2C95C34232EA5F7BBA4BF190274E430E03C02613D2AC7931007E66AA5AE319EC6">
            <a:extLst>
              <a:ext uri="{FF2B5EF4-FFF2-40B4-BE49-F238E27FC236}">
                <a16:creationId xmlns:a16="http://schemas.microsoft.com/office/drawing/2014/main" id="{247E5609-3DD4-3BD4-834F-F92662CA33B4}"/>
              </a:ext>
            </a:extLst>
          </p:cNvPr>
          <p:cNvSpPr txBox="1"/>
          <p:nvPr/>
        </p:nvSpPr>
        <p:spPr>
          <a:xfrm>
            <a:off x="8951370" y="3600362"/>
            <a:ext cx="1865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Model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B76EEDC-A877-A4B1-1150-2CE75F6B6147}"/>
              </a:ext>
            </a:extLst>
          </p:cNvPr>
          <p:cNvSpPr txBox="1"/>
          <p:nvPr/>
        </p:nvSpPr>
        <p:spPr>
          <a:xfrm>
            <a:off x="1355427" y="3627415"/>
            <a:ext cx="755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561BA3-537C-060A-9B46-C906E403C6E2}"/>
              </a:ext>
            </a:extLst>
          </p:cNvPr>
          <p:cNvSpPr txBox="1"/>
          <p:nvPr/>
        </p:nvSpPr>
        <p:spPr>
          <a:xfrm>
            <a:off x="5076287" y="3560576"/>
            <a:ext cx="755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E0397A1-DB59-C95E-1829-4014D78DB595}"/>
              </a:ext>
            </a:extLst>
          </p:cNvPr>
          <p:cNvSpPr txBox="1"/>
          <p:nvPr/>
        </p:nvSpPr>
        <p:spPr>
          <a:xfrm>
            <a:off x="8133107" y="3544566"/>
            <a:ext cx="755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40B994E-CF8C-E423-C066-6B7A02C236F3}"/>
              </a:ext>
            </a:extLst>
          </p:cNvPr>
          <p:cNvSpPr/>
          <p:nvPr/>
        </p:nvSpPr>
        <p:spPr>
          <a:xfrm>
            <a:off x="0" y="6714067"/>
            <a:ext cx="12191033" cy="143934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/>
              <a:t>        </a:t>
            </a:r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6F1572E-991D-8AAB-9F26-9819AB14B969}"/>
              </a:ext>
            </a:extLst>
          </p:cNvPr>
          <p:cNvSpPr/>
          <p:nvPr/>
        </p:nvSpPr>
        <p:spPr>
          <a:xfrm>
            <a:off x="1312160" y="4791951"/>
            <a:ext cx="825449" cy="82544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667"/>
          </a:p>
        </p:txBody>
      </p:sp>
      <p:sp>
        <p:nvSpPr>
          <p:cNvPr id="10" name="文本框 9" descr="e7d195523061f1c09e9d68d7cf438b91ef959ecb14fc25d26BBA7F7DBC18E55DFF4014AF651F0BF2569D4B6C1DA7F1A4683A481403BD872FC687266AD13265C1DE7C373772FD8728ABDD69ADD03BFF5BE2862BC891DBB79EB73C15828F0DF1DC2F0B1C670C38CB84D872D3C6C609B3C2C95C34232EA5F7BBA4BF190274E430E03C02613D2AC7931007E66AA5AE319EC6">
            <a:extLst>
              <a:ext uri="{FF2B5EF4-FFF2-40B4-BE49-F238E27FC236}">
                <a16:creationId xmlns:a16="http://schemas.microsoft.com/office/drawing/2014/main" id="{AEA7B04E-17C0-8E0E-1522-A7A2A4AF3A7D}"/>
              </a:ext>
            </a:extLst>
          </p:cNvPr>
          <p:cNvSpPr txBox="1"/>
          <p:nvPr/>
        </p:nvSpPr>
        <p:spPr>
          <a:xfrm>
            <a:off x="2294717" y="4943064"/>
            <a:ext cx="2273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Parameters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B0C9C59-01D5-4AE0-DB93-E758AE25DAB4}"/>
              </a:ext>
            </a:extLst>
          </p:cNvPr>
          <p:cNvSpPr txBox="1"/>
          <p:nvPr/>
        </p:nvSpPr>
        <p:spPr>
          <a:xfrm>
            <a:off x="1344457" y="4887269"/>
            <a:ext cx="755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31CE6D9-2778-A217-24A2-5D865AA5000A}"/>
              </a:ext>
            </a:extLst>
          </p:cNvPr>
          <p:cNvSpPr/>
          <p:nvPr/>
        </p:nvSpPr>
        <p:spPr>
          <a:xfrm>
            <a:off x="4997251" y="4774518"/>
            <a:ext cx="825449" cy="82544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667"/>
          </a:p>
        </p:txBody>
      </p:sp>
      <p:sp>
        <p:nvSpPr>
          <p:cNvPr id="18" name="文本框 17" descr="e7d195523061f1c09e9d68d7cf438b91ef959ecb14fc25d26BBA7F7DBC18E55DFF4014AF651F0BF2569D4B6C1DA7F1A4683A481403BD872FC687266AD13265C1DE7C373772FD8728ABDD69ADD03BFF5BE2862BC891DBB79EB73C15828F0DF1DC2F0B1C670C38CB84D872D3C6C609B3C2C95C34232EA5F7BBA4BF190274E430E03C02613D2AC7931007E66AA5AE319EC6">
            <a:extLst>
              <a:ext uri="{FF2B5EF4-FFF2-40B4-BE49-F238E27FC236}">
                <a16:creationId xmlns:a16="http://schemas.microsoft.com/office/drawing/2014/main" id="{BF1E0E31-BD0E-262D-C3E3-3C3B411B380C}"/>
              </a:ext>
            </a:extLst>
          </p:cNvPr>
          <p:cNvSpPr txBox="1"/>
          <p:nvPr/>
        </p:nvSpPr>
        <p:spPr>
          <a:xfrm>
            <a:off x="5861929" y="4967349"/>
            <a:ext cx="2184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Experiment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75C6634-3F10-D208-81B3-6D7DBCC7F885}"/>
              </a:ext>
            </a:extLst>
          </p:cNvPr>
          <p:cNvSpPr txBox="1"/>
          <p:nvPr/>
        </p:nvSpPr>
        <p:spPr>
          <a:xfrm>
            <a:off x="5040518" y="4869837"/>
            <a:ext cx="755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A67E525-1215-F4B4-4A91-8DB00876A4C1}"/>
              </a:ext>
            </a:extLst>
          </p:cNvPr>
          <p:cNvSpPr/>
          <p:nvPr/>
        </p:nvSpPr>
        <p:spPr>
          <a:xfrm>
            <a:off x="8089840" y="4785458"/>
            <a:ext cx="825449" cy="82544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667"/>
          </a:p>
        </p:txBody>
      </p:sp>
      <p:sp>
        <p:nvSpPr>
          <p:cNvPr id="24" name="文本框 23" descr="e7d195523061f1c09e9d68d7cf438b91ef959ecb14fc25d26BBA7F7DBC18E55DFF4014AF651F0BF2569D4B6C1DA7F1A4683A481403BD872FC687266AD13265C1DE7C373772FD8728ABDD69ADD03BFF5BE2862BC891DBB79EB73C15828F0DF1DC2F0B1C670C38CB84D872D3C6C609B3C2C95C34232EA5F7BBA4BF190274E430E03C02613D2AC7931007E66AA5AE319EC6">
            <a:extLst>
              <a:ext uri="{FF2B5EF4-FFF2-40B4-BE49-F238E27FC236}">
                <a16:creationId xmlns:a16="http://schemas.microsoft.com/office/drawing/2014/main" id="{71424B26-DDA2-17F6-405A-C137EFEAFF1A}"/>
              </a:ext>
            </a:extLst>
          </p:cNvPr>
          <p:cNvSpPr txBox="1"/>
          <p:nvPr/>
        </p:nvSpPr>
        <p:spPr>
          <a:xfrm>
            <a:off x="8951370" y="4955507"/>
            <a:ext cx="2184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Appendix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6D499D1-28B3-AC7D-1A60-5CF21E9BECE9}"/>
              </a:ext>
            </a:extLst>
          </p:cNvPr>
          <p:cNvSpPr txBox="1"/>
          <p:nvPr/>
        </p:nvSpPr>
        <p:spPr>
          <a:xfrm>
            <a:off x="8133107" y="4880777"/>
            <a:ext cx="755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00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73E56-D55E-3ACA-2578-E49DA7316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6BAD02C-CBEC-10CF-9E1E-120250740EED}"/>
              </a:ext>
            </a:extLst>
          </p:cNvPr>
          <p:cNvSpPr txBox="1"/>
          <p:nvPr/>
        </p:nvSpPr>
        <p:spPr>
          <a:xfrm>
            <a:off x="3002046" y="2921168"/>
            <a:ext cx="618791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CSI Daily Data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BD1D67-6060-C6D0-2EEA-C7B469A544E2}"/>
              </a:ext>
            </a:extLst>
          </p:cNvPr>
          <p:cNvSpPr txBox="1"/>
          <p:nvPr/>
        </p:nvSpPr>
        <p:spPr>
          <a:xfrm>
            <a:off x="5078797" y="920868"/>
            <a:ext cx="20344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01</a:t>
            </a:r>
            <a:endParaRPr lang="zh-CN" altLang="en-US" sz="40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7959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86D48-4AE5-9F14-19DE-1D8F22575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DF6CD90-6CAC-1223-D4AB-7ED9E44A60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8042" y="231000"/>
            <a:ext cx="4847958" cy="406400"/>
          </a:xfrm>
        </p:spPr>
        <p:txBody>
          <a:bodyPr/>
          <a:lstStyle/>
          <a:p>
            <a:r>
              <a:rPr lang="en-US" altLang="zh-CN" dirty="0"/>
              <a:t>CSI Daily Data</a:t>
            </a:r>
          </a:p>
        </p:txBody>
      </p:sp>
      <p:sp>
        <p:nvSpPr>
          <p:cNvPr id="42" name="Shape 28">
            <a:extLst>
              <a:ext uri="{FF2B5EF4-FFF2-40B4-BE49-F238E27FC236}">
                <a16:creationId xmlns:a16="http://schemas.microsoft.com/office/drawing/2014/main" id="{7482950B-D5D6-8729-ACF7-6D7E8AC71B70}"/>
              </a:ext>
            </a:extLst>
          </p:cNvPr>
          <p:cNvSpPr/>
          <p:nvPr/>
        </p:nvSpPr>
        <p:spPr>
          <a:xfrm>
            <a:off x="404834" y="972718"/>
            <a:ext cx="11405452" cy="2027657"/>
          </a:xfrm>
          <a:prstGeom prst="rect">
            <a:avLst/>
          </a:prstGeom>
          <a:solidFill>
            <a:srgbClr val="FFFFFF"/>
          </a:solidFill>
          <a:ln w="9525">
            <a:solidFill>
              <a:srgbClr val="EA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44" name="Shape 29">
            <a:extLst>
              <a:ext uri="{FF2B5EF4-FFF2-40B4-BE49-F238E27FC236}">
                <a16:creationId xmlns:a16="http://schemas.microsoft.com/office/drawing/2014/main" id="{34EC4FB7-4B28-5206-8D9E-BD0398CBD478}"/>
              </a:ext>
            </a:extLst>
          </p:cNvPr>
          <p:cNvSpPr/>
          <p:nvPr/>
        </p:nvSpPr>
        <p:spPr>
          <a:xfrm>
            <a:off x="404834" y="972718"/>
            <a:ext cx="73152" cy="134757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31">
            <a:extLst>
              <a:ext uri="{FF2B5EF4-FFF2-40B4-BE49-F238E27FC236}">
                <a16:creationId xmlns:a16="http://schemas.microsoft.com/office/drawing/2014/main" id="{8DC89E20-B6E3-7250-7BF2-ECE8D3330DA0}"/>
              </a:ext>
            </a:extLst>
          </p:cNvPr>
          <p:cNvSpPr/>
          <p:nvPr/>
        </p:nvSpPr>
        <p:spPr>
          <a:xfrm>
            <a:off x="1118066" y="100319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2" name="Text 32">
            <a:extLst>
              <a:ext uri="{FF2B5EF4-FFF2-40B4-BE49-F238E27FC236}">
                <a16:creationId xmlns:a16="http://schemas.microsoft.com/office/drawing/2014/main" id="{832B52D5-9072-4129-F7D2-3A32D8A50C4B}"/>
              </a:ext>
            </a:extLst>
          </p:cNvPr>
          <p:cNvSpPr/>
          <p:nvPr/>
        </p:nvSpPr>
        <p:spPr>
          <a:xfrm>
            <a:off x="776690" y="1038250"/>
            <a:ext cx="2673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Time-series Segments</a:t>
            </a: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A84DEEDB-C37F-7206-6E75-29DB64760977}"/>
              </a:ext>
            </a:extLst>
          </p:cNvPr>
          <p:cNvSpPr/>
          <p:nvPr/>
        </p:nvSpPr>
        <p:spPr>
          <a:xfrm>
            <a:off x="606002" y="1560982"/>
            <a:ext cx="3291840" cy="0"/>
          </a:xfrm>
          <a:prstGeom prst="line">
            <a:avLst/>
          </a:prstGeom>
          <a:noFill/>
          <a:ln w="12700">
            <a:solidFill>
              <a:srgbClr val="F0DA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34">
            <a:extLst>
              <a:ext uri="{FF2B5EF4-FFF2-40B4-BE49-F238E27FC236}">
                <a16:creationId xmlns:a16="http://schemas.microsoft.com/office/drawing/2014/main" id="{B816E113-AC96-F61C-D1A3-81CB0D86665E}"/>
              </a:ext>
            </a:extLst>
          </p:cNvPr>
          <p:cNvSpPr/>
          <p:nvPr/>
        </p:nvSpPr>
        <p:spPr>
          <a:xfrm>
            <a:off x="606002" y="1664612"/>
            <a:ext cx="5672878" cy="4350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b="1" dirty="0">
                <a:solidFill>
                  <a:srgbClr val="5C3A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Training set (7 years): </a:t>
            </a:r>
            <a:r>
              <a:rPr lang="en-US" dirty="0">
                <a:solidFill>
                  <a:srgbClr val="5C3A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(2008-01-01) – (2014-12-31)</a:t>
            </a:r>
          </a:p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b="1" dirty="0">
                <a:solidFill>
                  <a:srgbClr val="5C3A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Validation set (2 years): </a:t>
            </a:r>
            <a:r>
              <a:rPr lang="en-US" dirty="0">
                <a:solidFill>
                  <a:srgbClr val="5C3A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(2015-01-01</a:t>
            </a:r>
            <a:r>
              <a:rPr lang="en-US" altLang="zh-CN" dirty="0">
                <a:solidFill>
                  <a:srgbClr val="5C3A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) – (</a:t>
            </a:r>
            <a:r>
              <a:rPr lang="en-US" dirty="0">
                <a:solidFill>
                  <a:srgbClr val="5C3A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2016-12-31)</a:t>
            </a:r>
          </a:p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FontTx/>
              <a:buChar char="•"/>
            </a:pPr>
            <a:r>
              <a:rPr lang="en-US" b="1" dirty="0">
                <a:solidFill>
                  <a:srgbClr val="5C3A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 set (3 years 7 months): </a:t>
            </a:r>
            <a:r>
              <a:rPr lang="en-US" altLang="zh-CN" dirty="0">
                <a:solidFill>
                  <a:srgbClr val="5C3A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(2017-01-01) – (2020-08-01)</a:t>
            </a:r>
          </a:p>
          <a:p>
            <a:pPr marL="342900" indent="-3429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endParaRPr lang="en-US" sz="2000" dirty="0">
              <a:solidFill>
                <a:srgbClr val="5C3A3A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sp>
        <p:nvSpPr>
          <p:cNvPr id="96" name="Shape 28">
            <a:extLst>
              <a:ext uri="{FF2B5EF4-FFF2-40B4-BE49-F238E27FC236}">
                <a16:creationId xmlns:a16="http://schemas.microsoft.com/office/drawing/2014/main" id="{C2C23377-EABC-E90D-568F-D68E3DAD70D3}"/>
              </a:ext>
            </a:extLst>
          </p:cNvPr>
          <p:cNvSpPr/>
          <p:nvPr/>
        </p:nvSpPr>
        <p:spPr>
          <a:xfrm>
            <a:off x="477986" y="3335694"/>
            <a:ext cx="11309180" cy="3004146"/>
          </a:xfrm>
          <a:prstGeom prst="rect">
            <a:avLst/>
          </a:prstGeom>
          <a:solidFill>
            <a:srgbClr val="FFFFFF"/>
          </a:solidFill>
          <a:ln w="9525">
            <a:solidFill>
              <a:srgbClr val="EA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98" name="Shape 29">
            <a:extLst>
              <a:ext uri="{FF2B5EF4-FFF2-40B4-BE49-F238E27FC236}">
                <a16:creationId xmlns:a16="http://schemas.microsoft.com/office/drawing/2014/main" id="{9D5B1E42-8608-CC16-B316-43F46CCDEC3A}"/>
              </a:ext>
            </a:extLst>
          </p:cNvPr>
          <p:cNvSpPr/>
          <p:nvPr/>
        </p:nvSpPr>
        <p:spPr>
          <a:xfrm>
            <a:off x="478579" y="3328618"/>
            <a:ext cx="73152" cy="1382447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4" name="Text 32">
            <a:extLst>
              <a:ext uri="{FF2B5EF4-FFF2-40B4-BE49-F238E27FC236}">
                <a16:creationId xmlns:a16="http://schemas.microsoft.com/office/drawing/2014/main" id="{B10F856E-BB21-4D96-AA84-947E1432F716}"/>
              </a:ext>
            </a:extLst>
          </p:cNvPr>
          <p:cNvSpPr/>
          <p:nvPr/>
        </p:nvSpPr>
        <p:spPr>
          <a:xfrm>
            <a:off x="776690" y="3304521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Data</a:t>
            </a:r>
          </a:p>
        </p:txBody>
      </p:sp>
      <p:sp>
        <p:nvSpPr>
          <p:cNvPr id="106" name="Shape 33">
            <a:extLst>
              <a:ext uri="{FF2B5EF4-FFF2-40B4-BE49-F238E27FC236}">
                <a16:creationId xmlns:a16="http://schemas.microsoft.com/office/drawing/2014/main" id="{B1C06F91-0BA9-377E-4A43-5C7287EAB856}"/>
              </a:ext>
            </a:extLst>
          </p:cNvPr>
          <p:cNvSpPr/>
          <p:nvPr/>
        </p:nvSpPr>
        <p:spPr>
          <a:xfrm flipV="1">
            <a:off x="551731" y="3692269"/>
            <a:ext cx="4320032" cy="17476"/>
          </a:xfrm>
          <a:prstGeom prst="line">
            <a:avLst/>
          </a:prstGeom>
          <a:noFill/>
          <a:ln w="12700">
            <a:solidFill>
              <a:srgbClr val="F0DA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884DBB1-1C66-F83F-C834-EE8F867EE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762" y="1038250"/>
            <a:ext cx="4960236" cy="186835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B7E139C-B7FE-E5FA-0C21-F34568C65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90" y="3934316"/>
            <a:ext cx="9285714" cy="21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34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8A3DB-E431-7836-A338-E0CDD641C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2C8A69F-92A1-F5F5-41CC-6826A4C1A529}"/>
              </a:ext>
            </a:extLst>
          </p:cNvPr>
          <p:cNvSpPr txBox="1"/>
          <p:nvPr/>
        </p:nvSpPr>
        <p:spPr>
          <a:xfrm>
            <a:off x="3874081" y="2921168"/>
            <a:ext cx="44438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Alpha 158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C91F64B-5D45-B8AB-003E-1E345AF798D9}"/>
              </a:ext>
            </a:extLst>
          </p:cNvPr>
          <p:cNvSpPr txBox="1"/>
          <p:nvPr/>
        </p:nvSpPr>
        <p:spPr>
          <a:xfrm>
            <a:off x="5078797" y="920868"/>
            <a:ext cx="20344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02</a:t>
            </a:r>
            <a:endParaRPr lang="zh-CN" altLang="en-US" sz="4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6330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1BFF9-7178-EB32-216C-1B4D61726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F494872-3B29-7A08-05F9-B142E0A85E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8042" y="231000"/>
            <a:ext cx="4847958" cy="406400"/>
          </a:xfrm>
        </p:spPr>
        <p:txBody>
          <a:bodyPr/>
          <a:lstStyle/>
          <a:p>
            <a:r>
              <a:rPr lang="en-US" altLang="zh-CN" dirty="0"/>
              <a:t>Alpha 158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3BFC790-EC1F-6566-11A9-EC3BE8317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997711"/>
              </p:ext>
            </p:extLst>
          </p:nvPr>
        </p:nvGraphicFramePr>
        <p:xfrm>
          <a:off x="248855" y="1262134"/>
          <a:ext cx="11694289" cy="5364866"/>
        </p:xfrm>
        <a:graphic>
          <a:graphicData uri="http://schemas.openxmlformats.org/drawingml/2006/table">
            <a:tbl>
              <a:tblPr/>
              <a:tblGrid>
                <a:gridCol w="2274426">
                  <a:extLst>
                    <a:ext uri="{9D8B030D-6E8A-4147-A177-3AD203B41FA5}">
                      <a16:colId xmlns:a16="http://schemas.microsoft.com/office/drawing/2014/main" val="100588287"/>
                    </a:ext>
                  </a:extLst>
                </a:gridCol>
                <a:gridCol w="1377387">
                  <a:extLst>
                    <a:ext uri="{9D8B030D-6E8A-4147-A177-3AD203B41FA5}">
                      <a16:colId xmlns:a16="http://schemas.microsoft.com/office/drawing/2014/main" val="1723264729"/>
                    </a:ext>
                  </a:extLst>
                </a:gridCol>
                <a:gridCol w="1904717">
                  <a:extLst>
                    <a:ext uri="{9D8B030D-6E8A-4147-A177-3AD203B41FA5}">
                      <a16:colId xmlns:a16="http://schemas.microsoft.com/office/drawing/2014/main" val="3787473168"/>
                    </a:ext>
                  </a:extLst>
                </a:gridCol>
                <a:gridCol w="1185724">
                  <a:extLst>
                    <a:ext uri="{9D8B030D-6E8A-4147-A177-3AD203B41FA5}">
                      <a16:colId xmlns:a16="http://schemas.microsoft.com/office/drawing/2014/main" val="3837381701"/>
                    </a:ext>
                  </a:extLst>
                </a:gridCol>
                <a:gridCol w="4952035">
                  <a:extLst>
                    <a:ext uri="{9D8B030D-6E8A-4147-A177-3AD203B41FA5}">
                      <a16:colId xmlns:a16="http://schemas.microsoft.com/office/drawing/2014/main" val="4154984037"/>
                    </a:ext>
                  </a:extLst>
                </a:gridCol>
              </a:tblGrid>
              <a:tr h="429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Operators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Windows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Features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813482"/>
                  </a:ext>
                </a:extLst>
              </a:tr>
              <a:tr h="1233920">
                <a:tc>
                  <a:txBody>
                    <a:bodyPr/>
                    <a:lstStyle/>
                    <a:p>
                      <a:pPr marL="0" indent="0" algn="ctr" fontAlgn="ctr">
                        <a:buNone/>
                      </a:pP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A. </a:t>
                      </a: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K-bar 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indent="0" algn="ctr" fontAlgn="ctr">
                        <a:buNone/>
                      </a:pP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(Candlestick)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Intraday price structure and candlestick morphology metrics capturing single-bar price distribution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7184023"/>
                  </a:ext>
                </a:extLst>
              </a:tr>
              <a:tr h="8226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B. Raw Price (normalized)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Price level indicators normalized by closing price for cross-sectional comparability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157119"/>
                  </a:ext>
                </a:extLst>
              </a:tr>
              <a:tr h="12339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C. Rolling Technical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 10, 20, 30, 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Rolling-window technical indicators spanning trend, volatility, momentum, support/resistance and volume dynamics across multiple horizons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867172"/>
                  </a:ext>
                </a:extLst>
              </a:tr>
              <a:tr h="8226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Alpha158 = 158 standardized feature columns for alpha factor modeling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909121"/>
                  </a:ext>
                </a:extLst>
              </a:tr>
              <a:tr h="8226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D. Label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Forward return target variable for supervised predictive modeling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363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9466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B062A-16D0-A13B-DE85-37B2B8233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8194E26-B95D-51E9-FD4A-84208CFA4C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8041" y="231000"/>
            <a:ext cx="7641315" cy="406400"/>
          </a:xfrm>
        </p:spPr>
        <p:txBody>
          <a:bodyPr/>
          <a:lstStyle/>
          <a:p>
            <a:r>
              <a:rPr lang="en-US" altLang="zh-CN" dirty="0"/>
              <a:t>Alpha 158 (A — K-bar Features)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9DAFE5D-230F-5823-7198-462FE9D98B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54254"/>
              </p:ext>
            </p:extLst>
          </p:nvPr>
        </p:nvGraphicFramePr>
        <p:xfrm>
          <a:off x="185195" y="949124"/>
          <a:ext cx="11817752" cy="5659329"/>
        </p:xfrm>
        <a:graphic>
          <a:graphicData uri="http://schemas.openxmlformats.org/drawingml/2006/table">
            <a:tbl>
              <a:tblPr/>
              <a:tblGrid>
                <a:gridCol w="330236">
                  <a:extLst>
                    <a:ext uri="{9D8B030D-6E8A-4147-A177-3AD203B41FA5}">
                      <a16:colId xmlns:a16="http://schemas.microsoft.com/office/drawing/2014/main" val="2225101476"/>
                    </a:ext>
                  </a:extLst>
                </a:gridCol>
                <a:gridCol w="966128">
                  <a:extLst>
                    <a:ext uri="{9D8B030D-6E8A-4147-A177-3AD203B41FA5}">
                      <a16:colId xmlns:a16="http://schemas.microsoft.com/office/drawing/2014/main" val="1276236409"/>
                    </a:ext>
                  </a:extLst>
                </a:gridCol>
                <a:gridCol w="4907365">
                  <a:extLst>
                    <a:ext uri="{9D8B030D-6E8A-4147-A177-3AD203B41FA5}">
                      <a16:colId xmlns:a16="http://schemas.microsoft.com/office/drawing/2014/main" val="3645745020"/>
                    </a:ext>
                  </a:extLst>
                </a:gridCol>
                <a:gridCol w="5614023">
                  <a:extLst>
                    <a:ext uri="{9D8B030D-6E8A-4147-A177-3AD203B41FA5}">
                      <a16:colId xmlns:a16="http://schemas.microsoft.com/office/drawing/2014/main" val="4098569499"/>
                    </a:ext>
                  </a:extLst>
                </a:gridCol>
              </a:tblGrid>
              <a:tr h="5084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Expression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443692"/>
                  </a:ext>
                </a:extLst>
              </a:tr>
              <a:tr h="5084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KMID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(close−open)/open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Intraday price return relative to opening price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372235"/>
                  </a:ext>
                </a:extLst>
              </a:tr>
              <a:tr h="5084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KLEN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(high−low)/open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Intraday trading range normalized by opening price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350396"/>
                  </a:ext>
                </a:extLst>
              </a:tr>
              <a:tr h="5084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KMID2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(close−open)/(high−low+1e-12)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Real body ratio – price move relative to full daily range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29406"/>
                  </a:ext>
                </a:extLst>
              </a:tr>
              <a:tr h="5084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KUP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(high−Greater(open,close))/open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Upper shadow length normalized by opening price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740688"/>
                  </a:ext>
                </a:extLst>
              </a:tr>
              <a:tr h="5084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KUP2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(high−Greater(open,close))/(high-low+1e-12)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Upper shadow ratio relative to full trading range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791269"/>
                  </a:ext>
                </a:extLst>
              </a:tr>
              <a:tr h="5084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KLOW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(Less(open,close)-low)/open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Lower shadow length normalized by opening price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082810"/>
                  </a:ext>
                </a:extLst>
              </a:tr>
              <a:tr h="5084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KLOW2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(Less(open,close)-low)/(high-low+1e-12)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Lower shadow ratio relative to full trading range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874767"/>
                  </a:ext>
                </a:extLst>
              </a:tr>
              <a:tr h="5084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KSFT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(2*close−high-low)/open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Closing price positional bias relative to opening price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791770"/>
                  </a:ext>
                </a:extLst>
              </a:tr>
              <a:tr h="9745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KSFT2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(2*close−high-low)/(high-low+1e-12)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Candlestick softness – closing position within daily high-low range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56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0597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24E68-3861-ADD2-1A49-598663D86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7A32D7C-2934-B5EE-3CFD-15496729A0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8041" y="231000"/>
            <a:ext cx="8104303" cy="406400"/>
          </a:xfrm>
        </p:spPr>
        <p:txBody>
          <a:bodyPr/>
          <a:lstStyle/>
          <a:p>
            <a:r>
              <a:rPr lang="en-US" altLang="zh-CN" dirty="0"/>
              <a:t>Alpha 158 (B — Raw Price Features)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C389FF8-0AFB-F418-3BB4-BB1CE4CAE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950847"/>
              </p:ext>
            </p:extLst>
          </p:nvPr>
        </p:nvGraphicFramePr>
        <p:xfrm>
          <a:off x="289367" y="1169044"/>
          <a:ext cx="11539959" cy="5457955"/>
        </p:xfrm>
        <a:graphic>
          <a:graphicData uri="http://schemas.openxmlformats.org/drawingml/2006/table">
            <a:tbl>
              <a:tblPr/>
              <a:tblGrid>
                <a:gridCol w="1549788">
                  <a:extLst>
                    <a:ext uri="{9D8B030D-6E8A-4147-A177-3AD203B41FA5}">
                      <a16:colId xmlns:a16="http://schemas.microsoft.com/office/drawing/2014/main" val="3970206337"/>
                    </a:ext>
                  </a:extLst>
                </a:gridCol>
                <a:gridCol w="1549788">
                  <a:extLst>
                    <a:ext uri="{9D8B030D-6E8A-4147-A177-3AD203B41FA5}">
                      <a16:colId xmlns:a16="http://schemas.microsoft.com/office/drawing/2014/main" val="3338885441"/>
                    </a:ext>
                  </a:extLst>
                </a:gridCol>
                <a:gridCol w="3862548">
                  <a:extLst>
                    <a:ext uri="{9D8B030D-6E8A-4147-A177-3AD203B41FA5}">
                      <a16:colId xmlns:a16="http://schemas.microsoft.com/office/drawing/2014/main" val="608207607"/>
                    </a:ext>
                  </a:extLst>
                </a:gridCol>
                <a:gridCol w="4577835">
                  <a:extLst>
                    <a:ext uri="{9D8B030D-6E8A-4147-A177-3AD203B41FA5}">
                      <a16:colId xmlns:a16="http://schemas.microsoft.com/office/drawing/2014/main" val="2529734242"/>
                    </a:ext>
                  </a:extLst>
                </a:gridCol>
              </a:tblGrid>
              <a:tr h="9224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8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8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8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Expression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8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914343"/>
                  </a:ext>
                </a:extLst>
              </a:tr>
              <a:tr h="9224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OPEN0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open/close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Opening price normalized by closing price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430865"/>
                  </a:ext>
                </a:extLst>
              </a:tr>
              <a:tr h="9224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HIGH0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high/close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Daily high price normalized by closing price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388616"/>
                  </a:ext>
                </a:extLst>
              </a:tr>
              <a:tr h="9224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LOW0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low/close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Daily low price normalized by closing price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362709"/>
                  </a:ext>
                </a:extLst>
              </a:tr>
              <a:tr h="17680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VWAP0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vwap/close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Volume-weighted average price normalized by closing price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425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5333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C674F-D7B3-5281-CA1F-3F1309395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1188E33-AFB9-F160-6E4B-DD090E7788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8041" y="231000"/>
            <a:ext cx="8104303" cy="406400"/>
          </a:xfrm>
        </p:spPr>
        <p:txBody>
          <a:bodyPr/>
          <a:lstStyle/>
          <a:p>
            <a:r>
              <a:rPr lang="en-US" altLang="zh-CN" dirty="0"/>
              <a:t>Alpha 158 (C — Rolling Technical)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B05C014-521F-B8D1-C367-084B31F2D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406542"/>
              </p:ext>
            </p:extLst>
          </p:nvPr>
        </p:nvGraphicFramePr>
        <p:xfrm>
          <a:off x="181858" y="1054628"/>
          <a:ext cx="11828284" cy="5572372"/>
        </p:xfrm>
        <a:graphic>
          <a:graphicData uri="http://schemas.openxmlformats.org/drawingml/2006/table">
            <a:tbl>
              <a:tblPr/>
              <a:tblGrid>
                <a:gridCol w="647138">
                  <a:extLst>
                    <a:ext uri="{9D8B030D-6E8A-4147-A177-3AD203B41FA5}">
                      <a16:colId xmlns:a16="http://schemas.microsoft.com/office/drawing/2014/main" val="1101982699"/>
                    </a:ext>
                  </a:extLst>
                </a:gridCol>
                <a:gridCol w="1180618">
                  <a:extLst>
                    <a:ext uri="{9D8B030D-6E8A-4147-A177-3AD203B41FA5}">
                      <a16:colId xmlns:a16="http://schemas.microsoft.com/office/drawing/2014/main" val="3246214858"/>
                    </a:ext>
                  </a:extLst>
                </a:gridCol>
                <a:gridCol w="1493134">
                  <a:extLst>
                    <a:ext uri="{9D8B030D-6E8A-4147-A177-3AD203B41FA5}">
                      <a16:colId xmlns:a16="http://schemas.microsoft.com/office/drawing/2014/main" val="3046962004"/>
                    </a:ext>
                  </a:extLst>
                </a:gridCol>
                <a:gridCol w="1863524">
                  <a:extLst>
                    <a:ext uri="{9D8B030D-6E8A-4147-A177-3AD203B41FA5}">
                      <a16:colId xmlns:a16="http://schemas.microsoft.com/office/drawing/2014/main" val="1111412250"/>
                    </a:ext>
                  </a:extLst>
                </a:gridCol>
                <a:gridCol w="1782502">
                  <a:extLst>
                    <a:ext uri="{9D8B030D-6E8A-4147-A177-3AD203B41FA5}">
                      <a16:colId xmlns:a16="http://schemas.microsoft.com/office/drawing/2014/main" val="3922413015"/>
                    </a:ext>
                  </a:extLst>
                </a:gridCol>
                <a:gridCol w="949124">
                  <a:extLst>
                    <a:ext uri="{9D8B030D-6E8A-4147-A177-3AD203B41FA5}">
                      <a16:colId xmlns:a16="http://schemas.microsoft.com/office/drawing/2014/main" val="1371005395"/>
                    </a:ext>
                  </a:extLst>
                </a:gridCol>
                <a:gridCol w="3912244">
                  <a:extLst>
                    <a:ext uri="{9D8B030D-6E8A-4147-A177-3AD203B41FA5}">
                      <a16:colId xmlns:a16="http://schemas.microsoft.com/office/drawing/2014/main" val="834895746"/>
                    </a:ext>
                  </a:extLst>
                </a:gridCol>
              </a:tblGrid>
              <a:tr h="3390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</a:t>
                      </a:r>
                      <a:endParaRPr lang="zh-CN" sz="2400" b="1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Group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Operator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Expression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Windows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Count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69064"/>
                  </a:ext>
                </a:extLst>
              </a:tr>
              <a:tr h="649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</a:t>
                      </a:r>
                      <a:endParaRPr 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Price Trend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ROC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Ref(close,d)/close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Rate of change – price momentum indicator over rolling window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410819"/>
                  </a:ext>
                </a:extLst>
              </a:tr>
              <a:tr h="649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  <a:endParaRPr 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Price Trend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Mean(close,d)/close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Moving average – trend level benchmarked to current price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857796"/>
                  </a:ext>
                </a:extLst>
              </a:tr>
              <a:tr h="649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  <a:endParaRPr 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Price Trend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Std(close,d)/close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Realized price volatility – standard deviation of closing prices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799148"/>
                  </a:ext>
                </a:extLst>
              </a:tr>
              <a:tr h="649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17</a:t>
                      </a:r>
                      <a:endParaRPr 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Price Trend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BETA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Slope(close,d)/close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Linear trend slope – directional trend strength coefficient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66262"/>
                  </a:ext>
                </a:extLst>
              </a:tr>
              <a:tr h="649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18</a:t>
                      </a:r>
                      <a:endParaRPr 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Price Trend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RSQR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Rsquare(close,d)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R-squared of linear trend – measure of trend stability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913943"/>
                  </a:ext>
                </a:extLst>
              </a:tr>
              <a:tr h="649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</a:t>
                      </a:r>
                      <a:endParaRPr 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Price Trend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RESI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Resi(close,d)/close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Trend residual – price deviation from fitted trend line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744766"/>
                  </a:ext>
                </a:extLst>
              </a:tr>
              <a:tr h="649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</a:t>
                      </a:r>
                      <a:endParaRPr 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Price Trend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MAX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Max(high,d)/close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Rolling maximum high – near-term resistance level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994950"/>
                  </a:ext>
                </a:extLst>
              </a:tr>
              <a:tr h="649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</a:t>
                      </a:r>
                      <a:endParaRPr 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Price Trend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Min(low,d)/close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Rolling minimum low – near-term support level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481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283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1D898-8AB7-0B2B-538A-3F55036D2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F626F46-133E-1E9F-BFAC-710D9FF4D3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8041" y="231000"/>
            <a:ext cx="8104303" cy="406400"/>
          </a:xfrm>
        </p:spPr>
        <p:txBody>
          <a:bodyPr/>
          <a:lstStyle/>
          <a:p>
            <a:r>
              <a:rPr lang="en-US" altLang="zh-CN" dirty="0"/>
              <a:t>Alpha 158 (C — Rolling Technical)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D30BEE2-B7CB-BA98-9830-02429D9F4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56922"/>
              </p:ext>
            </p:extLst>
          </p:nvPr>
        </p:nvGraphicFramePr>
        <p:xfrm>
          <a:off x="140826" y="881008"/>
          <a:ext cx="11910348" cy="5807300"/>
        </p:xfrm>
        <a:graphic>
          <a:graphicData uri="http://schemas.openxmlformats.org/drawingml/2006/table">
            <a:tbl>
              <a:tblPr/>
              <a:tblGrid>
                <a:gridCol w="506230">
                  <a:extLst>
                    <a:ext uri="{9D8B030D-6E8A-4147-A177-3AD203B41FA5}">
                      <a16:colId xmlns:a16="http://schemas.microsoft.com/office/drawing/2014/main" val="3541839083"/>
                    </a:ext>
                  </a:extLst>
                </a:gridCol>
                <a:gridCol w="1357293">
                  <a:extLst>
                    <a:ext uri="{9D8B030D-6E8A-4147-A177-3AD203B41FA5}">
                      <a16:colId xmlns:a16="http://schemas.microsoft.com/office/drawing/2014/main" val="3246214858"/>
                    </a:ext>
                  </a:extLst>
                </a:gridCol>
                <a:gridCol w="1088021">
                  <a:extLst>
                    <a:ext uri="{9D8B030D-6E8A-4147-A177-3AD203B41FA5}">
                      <a16:colId xmlns:a16="http://schemas.microsoft.com/office/drawing/2014/main" val="3046962004"/>
                    </a:ext>
                  </a:extLst>
                </a:gridCol>
                <a:gridCol w="3264060">
                  <a:extLst>
                    <a:ext uri="{9D8B030D-6E8A-4147-A177-3AD203B41FA5}">
                      <a16:colId xmlns:a16="http://schemas.microsoft.com/office/drawing/2014/main" val="1111412250"/>
                    </a:ext>
                  </a:extLst>
                </a:gridCol>
                <a:gridCol w="1458410">
                  <a:extLst>
                    <a:ext uri="{9D8B030D-6E8A-4147-A177-3AD203B41FA5}">
                      <a16:colId xmlns:a16="http://schemas.microsoft.com/office/drawing/2014/main" val="3922413015"/>
                    </a:ext>
                  </a:extLst>
                </a:gridCol>
                <a:gridCol w="706056">
                  <a:extLst>
                    <a:ext uri="{9D8B030D-6E8A-4147-A177-3AD203B41FA5}">
                      <a16:colId xmlns:a16="http://schemas.microsoft.com/office/drawing/2014/main" val="1371005395"/>
                    </a:ext>
                  </a:extLst>
                </a:gridCol>
                <a:gridCol w="3530278">
                  <a:extLst>
                    <a:ext uri="{9D8B030D-6E8A-4147-A177-3AD203B41FA5}">
                      <a16:colId xmlns:a16="http://schemas.microsoft.com/office/drawing/2014/main" val="834895746"/>
                    </a:ext>
                  </a:extLst>
                </a:gridCol>
              </a:tblGrid>
              <a:tr h="295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</a:t>
                      </a:r>
                      <a:endParaRPr lang="zh-CN" sz="2000" b="1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Group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Operator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Expression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Windows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Count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69064"/>
                  </a:ext>
                </a:extLst>
              </a:tr>
              <a:tr h="5572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22</a:t>
                      </a:r>
                      <a:endParaRPr lang="zh-CN" sz="17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Quantile/Rank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QTLU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Quantile(close,d,0.8)/close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Upper price quantile (80th percentile) – upside resistance threshold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410819"/>
                  </a:ext>
                </a:extLst>
              </a:tr>
              <a:tr h="5572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23</a:t>
                      </a:r>
                      <a:endParaRPr lang="zh-CN" sz="17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Quantile/Rank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QTLD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Quantile(close,d,0.2)/close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Lower price quantile (20th percentile) – downside support threshold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857796"/>
                  </a:ext>
                </a:extLst>
              </a:tr>
              <a:tr h="5572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</a:t>
                      </a:r>
                      <a:endParaRPr lang="zh-CN" sz="17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Quantile/Rank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RANK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Rank(close,d)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Price percentile rank – relative price strength within window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799148"/>
                  </a:ext>
                </a:extLst>
              </a:tr>
              <a:tr h="786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</a:t>
                      </a:r>
                      <a:endParaRPr lang="zh-CN" sz="17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Quantile/Rank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RSV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(close−Min(low,d))/(Max(high,d)−Min(low,d)+1e-12)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Raw stochastic value – overbought/oversold market condition indicator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66262"/>
                  </a:ext>
                </a:extLst>
              </a:tr>
              <a:tr h="5572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26</a:t>
                      </a:r>
                      <a:endParaRPr lang="zh-CN" sz="17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Aroon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IMAX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IdxMax(high,d)/d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Days since highest high – Aroon up trend indicator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913943"/>
                  </a:ext>
                </a:extLst>
              </a:tr>
              <a:tr h="5572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27</a:t>
                      </a:r>
                      <a:endParaRPr lang="zh-CN" sz="17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Aroon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IMIN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IdxMin(low,d)/d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Days since lowest low – Aroon down trend indicator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744766"/>
                  </a:ext>
                </a:extLst>
              </a:tr>
              <a:tr h="5572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28</a:t>
                      </a:r>
                      <a:endParaRPr lang="zh-CN" sz="17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Aroon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IMXD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(IdxMax(high,d)−IdxMin(low,d))/d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Time gap between high and low extremes – price cycle timing indicator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994950"/>
                  </a:ext>
                </a:extLst>
              </a:tr>
              <a:tr h="5572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29</a:t>
                      </a:r>
                      <a:endParaRPr lang="zh-CN" sz="17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Price-Vol Corr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CORR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Corr(close,Log(volume+1), d)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Price-volume correlation – overall co-movement of price and trading volume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481100"/>
                  </a:ext>
                </a:extLst>
              </a:tr>
              <a:tr h="786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</a:t>
                      </a:r>
                      <a:endParaRPr lang="zh-CN" sz="17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Price-Vol Corr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CORD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Corr(close/Ref(close,1), Log(volume/Ref(volume,1)+1), d)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7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Return-volume change correlation – momentum and volume alignment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990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455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AB6BA-6FE7-F1B1-7C1A-ABEB3C160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79804FF-CB2D-DD4A-8919-A880AF7F67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8041" y="231000"/>
            <a:ext cx="8104303" cy="406400"/>
          </a:xfrm>
        </p:spPr>
        <p:txBody>
          <a:bodyPr/>
          <a:lstStyle/>
          <a:p>
            <a:r>
              <a:rPr lang="en-US" altLang="zh-CN" dirty="0"/>
              <a:t>Alpha 158 (C — Rolling Technical)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2DFBBBD-2E1E-3156-97D4-83649B677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903417"/>
              </p:ext>
            </p:extLst>
          </p:nvPr>
        </p:nvGraphicFramePr>
        <p:xfrm>
          <a:off x="140826" y="1691236"/>
          <a:ext cx="11910348" cy="3929370"/>
        </p:xfrm>
        <a:graphic>
          <a:graphicData uri="http://schemas.openxmlformats.org/drawingml/2006/table">
            <a:tbl>
              <a:tblPr/>
              <a:tblGrid>
                <a:gridCol w="506230">
                  <a:extLst>
                    <a:ext uri="{9D8B030D-6E8A-4147-A177-3AD203B41FA5}">
                      <a16:colId xmlns:a16="http://schemas.microsoft.com/office/drawing/2014/main" val="3541839083"/>
                    </a:ext>
                  </a:extLst>
                </a:gridCol>
                <a:gridCol w="1357293">
                  <a:extLst>
                    <a:ext uri="{9D8B030D-6E8A-4147-A177-3AD203B41FA5}">
                      <a16:colId xmlns:a16="http://schemas.microsoft.com/office/drawing/2014/main" val="3246214858"/>
                    </a:ext>
                  </a:extLst>
                </a:gridCol>
                <a:gridCol w="1088021">
                  <a:extLst>
                    <a:ext uri="{9D8B030D-6E8A-4147-A177-3AD203B41FA5}">
                      <a16:colId xmlns:a16="http://schemas.microsoft.com/office/drawing/2014/main" val="3046962004"/>
                    </a:ext>
                  </a:extLst>
                </a:gridCol>
                <a:gridCol w="3264060">
                  <a:extLst>
                    <a:ext uri="{9D8B030D-6E8A-4147-A177-3AD203B41FA5}">
                      <a16:colId xmlns:a16="http://schemas.microsoft.com/office/drawing/2014/main" val="1111412250"/>
                    </a:ext>
                  </a:extLst>
                </a:gridCol>
                <a:gridCol w="1458410">
                  <a:extLst>
                    <a:ext uri="{9D8B030D-6E8A-4147-A177-3AD203B41FA5}">
                      <a16:colId xmlns:a16="http://schemas.microsoft.com/office/drawing/2014/main" val="3922413015"/>
                    </a:ext>
                  </a:extLst>
                </a:gridCol>
                <a:gridCol w="706056">
                  <a:extLst>
                    <a:ext uri="{9D8B030D-6E8A-4147-A177-3AD203B41FA5}">
                      <a16:colId xmlns:a16="http://schemas.microsoft.com/office/drawing/2014/main" val="1371005395"/>
                    </a:ext>
                  </a:extLst>
                </a:gridCol>
                <a:gridCol w="3530278">
                  <a:extLst>
                    <a:ext uri="{9D8B030D-6E8A-4147-A177-3AD203B41FA5}">
                      <a16:colId xmlns:a16="http://schemas.microsoft.com/office/drawing/2014/main" val="834895746"/>
                    </a:ext>
                  </a:extLst>
                </a:gridCol>
              </a:tblGrid>
              <a:tr h="295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</a:t>
                      </a:r>
                      <a:endParaRPr lang="zh-CN" sz="2000" b="1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Group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Operator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Expression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Windows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Count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69064"/>
                  </a:ext>
                </a:extLst>
              </a:tr>
              <a:tr h="5572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</a:t>
                      </a:r>
                      <a:endParaRPr 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Count Direction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CNTP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Mean(close&gt;Ref(close,1), d)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Proportion of up days – bullish trading day frequency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410819"/>
                  </a:ext>
                </a:extLst>
              </a:tr>
              <a:tr h="5572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</a:t>
                      </a:r>
                      <a:endParaRPr 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Count Direction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CNTN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Mean(close&lt;Ref(close,1), d)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Proportion of down days – bearish trading day frequency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857796"/>
                  </a:ext>
                </a:extLst>
              </a:tr>
              <a:tr h="5572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33</a:t>
                      </a:r>
                      <a:endParaRPr 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Count Direction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CNTD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Mean(close&gt;Ref(...),d)−Mean(close&lt;Ref(...),d)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Net up-day proportion – directional strength differential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799148"/>
                  </a:ext>
                </a:extLst>
              </a:tr>
              <a:tr h="786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34</a:t>
                      </a:r>
                      <a:endParaRPr 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RSI-like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SUMP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Sum(Greater(close−Ref(close,1),0),d)/(Sum(Abs(close−Ref(close,1)),d)+1e-12)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Upside magnitude ratio – RSI-style bullish momentum strength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866262"/>
                  </a:ext>
                </a:extLst>
              </a:tr>
              <a:tr h="5572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35</a:t>
                      </a:r>
                      <a:endParaRPr 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RSI-like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SUMN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Sum(Greater(Ref(close,1)−close,0),d)/(Sum(Abs(...),d)+1e-12)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Downside magnitude ratio – RSI-style bearish momentum strength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913943"/>
                  </a:ext>
                </a:extLst>
              </a:tr>
              <a:tr h="5572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36</a:t>
                      </a:r>
                      <a:endParaRPr 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RSI-like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SUMD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SUMP - SUMN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Net magnitude differential – RSI-style net momentum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744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9389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91D28-7FAA-22FA-6BD4-18D2FE3C9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E3F2C91-96C3-286D-EAB2-4F42F8240B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8041" y="231000"/>
            <a:ext cx="8104303" cy="406400"/>
          </a:xfrm>
        </p:spPr>
        <p:txBody>
          <a:bodyPr/>
          <a:lstStyle/>
          <a:p>
            <a:r>
              <a:rPr lang="en-US" altLang="zh-CN" dirty="0"/>
              <a:t>Alpha 158 (C — Rolling Technical)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8B5C505-C9A9-E24F-ADA8-9FC6DF6BA7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498297"/>
              </p:ext>
            </p:extLst>
          </p:nvPr>
        </p:nvGraphicFramePr>
        <p:xfrm>
          <a:off x="140826" y="1378720"/>
          <a:ext cx="11910348" cy="4988918"/>
        </p:xfrm>
        <a:graphic>
          <a:graphicData uri="http://schemas.openxmlformats.org/drawingml/2006/table">
            <a:tbl>
              <a:tblPr/>
              <a:tblGrid>
                <a:gridCol w="506230">
                  <a:extLst>
                    <a:ext uri="{9D8B030D-6E8A-4147-A177-3AD203B41FA5}">
                      <a16:colId xmlns:a16="http://schemas.microsoft.com/office/drawing/2014/main" val="3541839083"/>
                    </a:ext>
                  </a:extLst>
                </a:gridCol>
                <a:gridCol w="1357293">
                  <a:extLst>
                    <a:ext uri="{9D8B030D-6E8A-4147-A177-3AD203B41FA5}">
                      <a16:colId xmlns:a16="http://schemas.microsoft.com/office/drawing/2014/main" val="3246214858"/>
                    </a:ext>
                  </a:extLst>
                </a:gridCol>
                <a:gridCol w="1088021">
                  <a:extLst>
                    <a:ext uri="{9D8B030D-6E8A-4147-A177-3AD203B41FA5}">
                      <a16:colId xmlns:a16="http://schemas.microsoft.com/office/drawing/2014/main" val="3046962004"/>
                    </a:ext>
                  </a:extLst>
                </a:gridCol>
                <a:gridCol w="3264060">
                  <a:extLst>
                    <a:ext uri="{9D8B030D-6E8A-4147-A177-3AD203B41FA5}">
                      <a16:colId xmlns:a16="http://schemas.microsoft.com/office/drawing/2014/main" val="1111412250"/>
                    </a:ext>
                  </a:extLst>
                </a:gridCol>
                <a:gridCol w="1458410">
                  <a:extLst>
                    <a:ext uri="{9D8B030D-6E8A-4147-A177-3AD203B41FA5}">
                      <a16:colId xmlns:a16="http://schemas.microsoft.com/office/drawing/2014/main" val="3922413015"/>
                    </a:ext>
                  </a:extLst>
                </a:gridCol>
                <a:gridCol w="706056">
                  <a:extLst>
                    <a:ext uri="{9D8B030D-6E8A-4147-A177-3AD203B41FA5}">
                      <a16:colId xmlns:a16="http://schemas.microsoft.com/office/drawing/2014/main" val="1371005395"/>
                    </a:ext>
                  </a:extLst>
                </a:gridCol>
                <a:gridCol w="3530278">
                  <a:extLst>
                    <a:ext uri="{9D8B030D-6E8A-4147-A177-3AD203B41FA5}">
                      <a16:colId xmlns:a16="http://schemas.microsoft.com/office/drawing/2014/main" val="834895746"/>
                    </a:ext>
                  </a:extLst>
                </a:gridCol>
              </a:tblGrid>
              <a:tr h="295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</a:t>
                      </a:r>
                      <a:endParaRPr lang="zh-CN" sz="2000" b="1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Group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Operator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Expression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Windows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Count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69064"/>
                  </a:ext>
                </a:extLst>
              </a:tr>
              <a:tr h="5572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37</a:t>
                      </a:r>
                      <a:endParaRPr 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Volume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VMA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Mean(volume,d)/(volume+1e-12)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Volume moving average – trading volume trend relative to current volume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410819"/>
                  </a:ext>
                </a:extLst>
              </a:tr>
              <a:tr h="5572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38</a:t>
                      </a:r>
                      <a:endParaRPr 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Volume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VSTD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Std(volume,d)/(volume+1e-12)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Volume standard deviation – trading volume volatility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857796"/>
                  </a:ext>
                </a:extLst>
              </a:tr>
              <a:tr h="5572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</a:t>
                      </a:r>
                      <a:endParaRPr 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Volume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WVMA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Std(Abs(close/Ref(close,1)-1)*volume,d)/(Mean(Abs(...),d)+1e-12)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Volume-weighted volatility – volume-adjusted price fluctuation intensity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799148"/>
                  </a:ext>
                </a:extLst>
              </a:tr>
              <a:tr h="786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</a:t>
                      </a:r>
                      <a:endParaRPr 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Volume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VSUMP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Sum(Greater(volume−Ref(volume,1),0),d)/(Sum(Abs(...),d)+1e-12)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Upside volume ratio – volume expansion momentum strength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66262"/>
                  </a:ext>
                </a:extLst>
              </a:tr>
              <a:tr h="5572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</a:t>
                      </a:r>
                      <a:endParaRPr 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Volume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VSUMN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Sum(Greater(Ref(volume,1)−volume,0),d)/(Sum(Abs(...),d)+1e-12)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Downside volume ratio – volume contraction momentum strength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913943"/>
                  </a:ext>
                </a:extLst>
              </a:tr>
              <a:tr h="5572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</a:t>
                      </a:r>
                      <a:endParaRPr 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Volume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VSUMD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VSUMP - VSUMN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[5,10,20,30,60]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Net volume differential – volume momentum net direction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744766"/>
                  </a:ext>
                </a:extLst>
              </a:tr>
              <a:tr h="5572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abel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LABEL0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Ref(close, -2)/Ref(close, -1) - 1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1-day forward return (shifted by 1)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293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3657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44CB1-2D8B-9DDC-9EC1-B078FC4A9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68C7E27-5908-17B9-6213-CBA210F3E17C}"/>
              </a:ext>
            </a:extLst>
          </p:cNvPr>
          <p:cNvSpPr txBox="1"/>
          <p:nvPr/>
        </p:nvSpPr>
        <p:spPr>
          <a:xfrm>
            <a:off x="4665965" y="2921168"/>
            <a:ext cx="286007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Model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79A7C8C-A0B7-1CC2-3D32-BC15D042F862}"/>
              </a:ext>
            </a:extLst>
          </p:cNvPr>
          <p:cNvSpPr txBox="1"/>
          <p:nvPr/>
        </p:nvSpPr>
        <p:spPr>
          <a:xfrm>
            <a:off x="5078797" y="920868"/>
            <a:ext cx="20344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03</a:t>
            </a:r>
            <a:endParaRPr lang="zh-CN" altLang="en-US" sz="4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5148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928C5-7CC5-0640-46C5-C59507F16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B6EFB97-0045-FC20-B4F3-1AF517DA1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8041" y="231000"/>
            <a:ext cx="8104303" cy="406400"/>
          </a:xfrm>
        </p:spPr>
        <p:txBody>
          <a:bodyPr/>
          <a:lstStyle/>
          <a:p>
            <a:r>
              <a:rPr lang="en-US" altLang="zh-CN" dirty="0"/>
              <a:t>LightGBM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AC749E7-B42A-AA92-AD73-F9005257BC09}"/>
              </a:ext>
            </a:extLst>
          </p:cNvPr>
          <p:cNvSpPr txBox="1"/>
          <p:nvPr/>
        </p:nvSpPr>
        <p:spPr>
          <a:xfrm>
            <a:off x="486137" y="1004515"/>
            <a:ext cx="1150523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Gradient Boosting Machine (LightGBM)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efficient gradient boosting framework. It uses decision trees as base learners, built on the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Decision Tree (GBDT)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principle where trees are trained sequentially to fit the residuals of prior models. As an optimized GBDT implementation, LightGBM adopts leaf-wise growth,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Gradient-based One-Side Sampling (GOSS)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Exclusive Feature Bundling (EFB)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deliver faster training and lower memory usage while retaining strong predictive accuracy.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ACAD49A-4707-21D7-9E26-958A3E4B1E23}"/>
              </a:ext>
            </a:extLst>
          </p:cNvPr>
          <p:cNvSpPr txBox="1"/>
          <p:nvPr/>
        </p:nvSpPr>
        <p:spPr>
          <a:xfrm>
            <a:off x="2233914" y="2725304"/>
            <a:ext cx="949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ID3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169FD4-0C58-D6F5-065D-8FF330CD24A6}"/>
              </a:ext>
            </a:extLst>
          </p:cNvPr>
          <p:cNvSpPr txBox="1"/>
          <p:nvPr/>
        </p:nvSpPr>
        <p:spPr>
          <a:xfrm>
            <a:off x="2187615" y="3590779"/>
            <a:ext cx="949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C4.5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62607F0-A3EE-BCBE-DF7E-502EBD7C4714}"/>
              </a:ext>
            </a:extLst>
          </p:cNvPr>
          <p:cNvSpPr txBox="1"/>
          <p:nvPr/>
        </p:nvSpPr>
        <p:spPr>
          <a:xfrm>
            <a:off x="2050648" y="4456254"/>
            <a:ext cx="1500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AF7F4C3-E818-A6FA-E167-EADA249CF2AA}"/>
              </a:ext>
            </a:extLst>
          </p:cNvPr>
          <p:cNvSpPr txBox="1"/>
          <p:nvPr/>
        </p:nvSpPr>
        <p:spPr>
          <a:xfrm>
            <a:off x="3620948" y="4456254"/>
            <a:ext cx="1500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GBDT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5D7DC6E-8C53-B7E3-3BB6-AC86D5B8BD5C}"/>
              </a:ext>
            </a:extLst>
          </p:cNvPr>
          <p:cNvSpPr txBox="1"/>
          <p:nvPr/>
        </p:nvSpPr>
        <p:spPr>
          <a:xfrm>
            <a:off x="5283844" y="4456254"/>
            <a:ext cx="17747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F9DDA32-F5BA-A339-8CB8-F8ACBA21EFDC}"/>
              </a:ext>
            </a:extLst>
          </p:cNvPr>
          <p:cNvSpPr txBox="1"/>
          <p:nvPr/>
        </p:nvSpPr>
        <p:spPr>
          <a:xfrm>
            <a:off x="7450238" y="4456254"/>
            <a:ext cx="2282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3EC32B9-9BCC-CC2F-AC40-A5656DB7DD08}"/>
              </a:ext>
            </a:extLst>
          </p:cNvPr>
          <p:cNvSpPr txBox="1"/>
          <p:nvPr/>
        </p:nvSpPr>
        <p:spPr>
          <a:xfrm rot="5400000">
            <a:off x="-322377" y="4040315"/>
            <a:ext cx="3088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11A83E7A-A05A-9BC8-6E9F-4D24A52E1867}"/>
              </a:ext>
            </a:extLst>
          </p:cNvPr>
          <p:cNvSpPr/>
          <p:nvPr/>
        </p:nvSpPr>
        <p:spPr>
          <a:xfrm>
            <a:off x="3302643" y="4546736"/>
            <a:ext cx="266218" cy="3422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9717B56A-144D-5B3F-B4CE-9A64B2DC9BF3}"/>
              </a:ext>
            </a:extLst>
          </p:cNvPr>
          <p:cNvSpPr/>
          <p:nvPr/>
        </p:nvSpPr>
        <p:spPr>
          <a:xfrm>
            <a:off x="4905738" y="4546736"/>
            <a:ext cx="364603" cy="3749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F44E0145-E703-EC3F-976C-927CEB690AD4}"/>
              </a:ext>
            </a:extLst>
          </p:cNvPr>
          <p:cNvSpPr/>
          <p:nvPr/>
        </p:nvSpPr>
        <p:spPr>
          <a:xfrm>
            <a:off x="7038372" y="4560670"/>
            <a:ext cx="364603" cy="3749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AE4A2276-66EA-7A7E-B2F4-AF320FDDAEF0}"/>
              </a:ext>
            </a:extLst>
          </p:cNvPr>
          <p:cNvSpPr/>
          <p:nvPr/>
        </p:nvSpPr>
        <p:spPr>
          <a:xfrm rot="5400000">
            <a:off x="2454421" y="3220979"/>
            <a:ext cx="364603" cy="3749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671F5CB7-D62B-9DEC-A3DD-7155FBA35D88}"/>
              </a:ext>
            </a:extLst>
          </p:cNvPr>
          <p:cNvSpPr/>
          <p:nvPr/>
        </p:nvSpPr>
        <p:spPr>
          <a:xfrm rot="5400000">
            <a:off x="2454421" y="4129139"/>
            <a:ext cx="364603" cy="3749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4973EED-1C06-C14F-A763-A036FAEA7B7D}"/>
              </a:ext>
            </a:extLst>
          </p:cNvPr>
          <p:cNvSpPr txBox="1"/>
          <p:nvPr/>
        </p:nvSpPr>
        <p:spPr>
          <a:xfrm>
            <a:off x="486138" y="5236101"/>
            <a:ext cx="5486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Speed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for Sparse Financial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for Large-scale Data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15438F1-28F1-8BB3-AC6F-BB2C82A1407C}"/>
              </a:ext>
            </a:extLst>
          </p:cNvPr>
          <p:cNvSpPr txBox="1"/>
          <p:nvPr/>
        </p:nvSpPr>
        <p:spPr>
          <a:xfrm>
            <a:off x="5972538" y="5217103"/>
            <a:ext cx="548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Histogram-based Split Finding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Gradient-based One-Side Sampling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Exclusive Feature Bundling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634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62699-A535-D035-618E-5A8E89F50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1B3EE4B-6F75-C251-7705-12B02A51E6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8041" y="231000"/>
            <a:ext cx="8104303" cy="406400"/>
          </a:xfrm>
        </p:spPr>
        <p:txBody>
          <a:bodyPr/>
          <a:lstStyle/>
          <a:p>
            <a:r>
              <a:rPr lang="en-US" altLang="zh-CN" dirty="0"/>
              <a:t>LightGBM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9C9693C-1257-DEAC-2665-9C35A3F36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041" y="1488762"/>
            <a:ext cx="9506833" cy="475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135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CAB9C-9A5E-4B1B-7637-E4B11E245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07FE2D8-F954-6136-065C-CFEA015C3B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8041" y="231000"/>
            <a:ext cx="8104303" cy="406400"/>
          </a:xfrm>
        </p:spPr>
        <p:txBody>
          <a:bodyPr/>
          <a:lstStyle/>
          <a:p>
            <a:r>
              <a:rPr lang="en-US" altLang="zh-CN" dirty="0"/>
              <a:t>LightGBM (Model Parameters)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05BFF41-EAD7-313A-41C9-5B4F2C2D5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679641"/>
              </p:ext>
            </p:extLst>
          </p:nvPr>
        </p:nvGraphicFramePr>
        <p:xfrm>
          <a:off x="1248041" y="1130772"/>
          <a:ext cx="8702877" cy="3480900"/>
        </p:xfrm>
        <a:graphic>
          <a:graphicData uri="http://schemas.openxmlformats.org/drawingml/2006/table">
            <a:tbl>
              <a:tblPr/>
              <a:tblGrid>
                <a:gridCol w="2231988">
                  <a:extLst>
                    <a:ext uri="{9D8B030D-6E8A-4147-A177-3AD203B41FA5}">
                      <a16:colId xmlns:a16="http://schemas.microsoft.com/office/drawing/2014/main" val="2838393713"/>
                    </a:ext>
                  </a:extLst>
                </a:gridCol>
                <a:gridCol w="1613034">
                  <a:extLst>
                    <a:ext uri="{9D8B030D-6E8A-4147-A177-3AD203B41FA5}">
                      <a16:colId xmlns:a16="http://schemas.microsoft.com/office/drawing/2014/main" val="3641172910"/>
                    </a:ext>
                  </a:extLst>
                </a:gridCol>
                <a:gridCol w="4857855">
                  <a:extLst>
                    <a:ext uri="{9D8B030D-6E8A-4147-A177-3AD203B41FA5}">
                      <a16:colId xmlns:a16="http://schemas.microsoft.com/office/drawing/2014/main" val="2481106685"/>
                    </a:ext>
                  </a:extLst>
                </a:gridCol>
              </a:tblGrid>
              <a:tr h="3452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16360"/>
                  </a:ext>
                </a:extLst>
              </a:tr>
              <a:tr h="3452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loss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mse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Loss function (MSE for regression)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184283"/>
                  </a:ext>
                </a:extLst>
              </a:tr>
              <a:tr h="3452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colsample_bytree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0.8879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Column sampling ratio per tree (feature fraction)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264253"/>
                  </a:ext>
                </a:extLst>
              </a:tr>
              <a:tr h="3452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learning_rate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0.0421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Shrinkage rate / step size boosting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605487"/>
                  </a:ext>
                </a:extLst>
              </a:tr>
              <a:tr h="3452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subsample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0.8789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Row sampling ratio per tree (bagging fraction)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496774"/>
                  </a:ext>
                </a:extLst>
              </a:tr>
              <a:tr h="3452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lambda_l1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205.6999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L1 regularization (lasso) on leaf weights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474254"/>
                  </a:ext>
                </a:extLst>
              </a:tr>
              <a:tr h="3452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lambda_l2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580.9768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L2 regularization (ridge) on leaf weights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381978"/>
                  </a:ext>
                </a:extLst>
              </a:tr>
              <a:tr h="3452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max_depth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Maximum tree depth (limits overfitting)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083182"/>
                  </a:ext>
                </a:extLst>
              </a:tr>
              <a:tr h="3452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num_leaves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Max number of leaves per tree (model complexity)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312254"/>
                  </a:ext>
                </a:extLst>
              </a:tr>
              <a:tr h="3452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num_threads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Number of parallel threads for training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480832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1FF85FA5-1AB3-4094-B9E0-278D147CFA68}"/>
              </a:ext>
            </a:extLst>
          </p:cNvPr>
          <p:cNvSpPr txBox="1"/>
          <p:nvPr/>
        </p:nvSpPr>
        <p:spPr>
          <a:xfrm>
            <a:off x="915856" y="4688127"/>
            <a:ext cx="1080339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">
              <a:buFont typeface="Arial" panose="020B0604020202020204" pitchFamily="34" charset="0"/>
              <a:buChar char="•"/>
            </a:pPr>
            <a:r>
              <a:rPr lang="zh-CN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colsample_bytree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列特征采样参考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Random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Forest</a:t>
            </a:r>
          </a:p>
          <a:p>
            <a:pPr marL="342900" indent="-342900" fontAlgn="b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Subsample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样本随机抽样而非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GOSS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抽样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fontAlgn="b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二者同时存在，本质是为了提供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L1+L2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组合的弹性网（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Elastic Net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）正则化能力。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Lambda1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做叶子剪枝，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Lambda2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做权重衰减，抑制极端值</a:t>
            </a:r>
            <a:endParaRPr lang="zh-CN" altLang="zh-CN" sz="2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331F0C2-0716-4969-257C-A6CCE02ED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832" y="6231651"/>
            <a:ext cx="7499478" cy="62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09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73789-7858-9336-B788-BDB0CD106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225CF7C-6CE8-52D6-BE0C-27ABCE53E7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8041" y="231000"/>
            <a:ext cx="10069992" cy="406400"/>
          </a:xfrm>
        </p:spPr>
        <p:txBody>
          <a:bodyPr/>
          <a:lstStyle/>
          <a:p>
            <a:r>
              <a:rPr lang="en-US" altLang="zh-CN" dirty="0"/>
              <a:t>LightGBM (Histogram-based Split Finding)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58B051C-3368-9FAA-9697-E8FECE61A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117" y="942445"/>
            <a:ext cx="10990476" cy="55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865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5226B-E86C-A3CA-579A-BFFB7ACA7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97460E7-EB77-3584-D249-71874902AA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8041" y="231000"/>
            <a:ext cx="10368572" cy="406400"/>
          </a:xfrm>
        </p:spPr>
        <p:txBody>
          <a:bodyPr/>
          <a:lstStyle/>
          <a:p>
            <a:r>
              <a:rPr lang="en-US" altLang="zh-CN" dirty="0"/>
              <a:t>LightGBM (Gradient-based One-Side Sampling)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334C21C-C0EE-B6B6-DDD7-7E52EE6DC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70" y="1007952"/>
            <a:ext cx="11057143" cy="56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298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52009-F939-3DF1-F0E6-235D34590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464071C-A716-56EE-CCF4-71806F9610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8041" y="231000"/>
            <a:ext cx="10368572" cy="406400"/>
          </a:xfrm>
        </p:spPr>
        <p:txBody>
          <a:bodyPr/>
          <a:lstStyle/>
          <a:p>
            <a:r>
              <a:rPr lang="en-US" altLang="zh-CN" dirty="0"/>
              <a:t>LightGBM (Exclusive Feature Bundling)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BBC49A2-CFC1-DB4A-7E59-8520817AD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47" y="913873"/>
            <a:ext cx="10761905" cy="5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171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C606C-FCEC-C38C-9ACC-EB15DF2E6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1DC3E45-EF87-1514-E1D3-168A0BA65D96}"/>
              </a:ext>
            </a:extLst>
          </p:cNvPr>
          <p:cNvSpPr txBox="1"/>
          <p:nvPr/>
        </p:nvSpPr>
        <p:spPr>
          <a:xfrm>
            <a:off x="3625361" y="2921168"/>
            <a:ext cx="494128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Parameters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9656F1F-E9B3-9F8A-C71B-03A9A9148DA5}"/>
              </a:ext>
            </a:extLst>
          </p:cNvPr>
          <p:cNvSpPr txBox="1"/>
          <p:nvPr/>
        </p:nvSpPr>
        <p:spPr>
          <a:xfrm>
            <a:off x="5078797" y="920868"/>
            <a:ext cx="20344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04</a:t>
            </a:r>
            <a:endParaRPr lang="zh-CN" altLang="en-US" sz="4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8733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9CEF3-5C48-F82D-8D30-DC8D0149B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43054BC-4932-58BB-C93A-DBA6D29942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8041" y="231000"/>
            <a:ext cx="10368572" cy="406400"/>
          </a:xfrm>
        </p:spPr>
        <p:txBody>
          <a:bodyPr/>
          <a:lstStyle/>
          <a:p>
            <a:r>
              <a:rPr lang="en-US" altLang="zh-CN" dirty="0"/>
              <a:t>Parameters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DBB224C-446A-2C71-9AEE-CFC5222BD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557478"/>
              </p:ext>
            </p:extLst>
          </p:nvPr>
        </p:nvGraphicFramePr>
        <p:xfrm>
          <a:off x="531845" y="1045029"/>
          <a:ext cx="10804848" cy="5570730"/>
        </p:xfrm>
        <a:graphic>
          <a:graphicData uri="http://schemas.openxmlformats.org/drawingml/2006/table">
            <a:tbl>
              <a:tblPr/>
              <a:tblGrid>
                <a:gridCol w="1600718">
                  <a:extLst>
                    <a:ext uri="{9D8B030D-6E8A-4147-A177-3AD203B41FA5}">
                      <a16:colId xmlns:a16="http://schemas.microsoft.com/office/drawing/2014/main" val="4037982297"/>
                    </a:ext>
                  </a:extLst>
                </a:gridCol>
                <a:gridCol w="2948691">
                  <a:extLst>
                    <a:ext uri="{9D8B030D-6E8A-4147-A177-3AD203B41FA5}">
                      <a16:colId xmlns:a16="http://schemas.microsoft.com/office/drawing/2014/main" val="1759903844"/>
                    </a:ext>
                  </a:extLst>
                </a:gridCol>
                <a:gridCol w="6255439">
                  <a:extLst>
                    <a:ext uri="{9D8B030D-6E8A-4147-A177-3AD203B41FA5}">
                      <a16:colId xmlns:a16="http://schemas.microsoft.com/office/drawing/2014/main" val="138784117"/>
                    </a:ext>
                  </a:extLst>
                </a:gridCol>
              </a:tblGrid>
              <a:tr h="3028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层级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参数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8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含义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116476"/>
                  </a:ext>
                </a:extLst>
              </a:tr>
              <a:tr h="3028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executor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SimulatorExecutor — 模拟执行器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839269"/>
                  </a:ext>
                </a:extLst>
              </a:tr>
              <a:tr h="3028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executor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time_per_step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以天为单位撮合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304996"/>
                  </a:ext>
                </a:extLst>
              </a:tr>
              <a:tr h="3028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executor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generate_portfolio_metrics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生成组合维度绩效指标（收益率、夏普、最大回撤等）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534121"/>
                  </a:ext>
                </a:extLst>
              </a:tr>
              <a:tr h="3028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strategy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TopkDropoutStrategy — 选股策略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6838165"/>
                  </a:ext>
                </a:extLst>
              </a:tr>
              <a:tr h="3028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strategy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每天选 top-50 只股票买入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415700"/>
                  </a:ext>
                </a:extLst>
              </a:tr>
              <a:tr h="4222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strategy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n_drop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从持仓中剔除 5 只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6481194"/>
                  </a:ext>
                </a:extLst>
              </a:tr>
              <a:tr h="3028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strategy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signal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用训练好的模型+数据生成每日预测信号，驱动选股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1000"/>
                  </a:ext>
                </a:extLst>
              </a:tr>
              <a:tr h="3028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backtest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start_time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回测开始：2017-01-01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4470313"/>
                  </a:ext>
                </a:extLst>
              </a:tr>
              <a:tr h="3028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backtest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end_time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回测结束：2020-08-01（约 3.5 年）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8171"/>
                  </a:ext>
                </a:extLst>
              </a:tr>
              <a:tr h="3028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backtest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初始资金 1 亿元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4400164"/>
                  </a:ext>
                </a:extLst>
              </a:tr>
              <a:tr h="3028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backtest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benchmark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基准为沪深 300 指数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529913"/>
                  </a:ext>
                </a:extLst>
              </a:tr>
              <a:tr h="3028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backtest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freq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日频交易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356807"/>
                  </a:ext>
                </a:extLst>
              </a:tr>
              <a:tr h="3028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backtest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limit_threshold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涨跌停限制 9.5%（略低于实际 10%，留安全边际）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2042631"/>
                  </a:ext>
                </a:extLst>
              </a:tr>
              <a:tr h="3028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backtest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deal_price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以收盘价成交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299465"/>
                  </a:ext>
                </a:extLst>
              </a:tr>
              <a:tr h="3028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backtest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open_cost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买入佣金 万 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763945"/>
                  </a:ext>
                </a:extLst>
              </a:tr>
              <a:tr h="3028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backtest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close_cost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卖出佣金+印花税 万 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1810282"/>
                  </a:ext>
                </a:extLst>
              </a:tr>
              <a:tr h="3028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backtest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min_cost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每笔最低佣金 5 元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636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871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9E1E6-AE0F-498F-30A8-FBC8ABC28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8D015BE-CDF2-3472-0A3D-B813E4F39068}"/>
              </a:ext>
            </a:extLst>
          </p:cNvPr>
          <p:cNvSpPr txBox="1"/>
          <p:nvPr/>
        </p:nvSpPr>
        <p:spPr>
          <a:xfrm>
            <a:off x="3598657" y="2921168"/>
            <a:ext cx="499470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Experiment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6AE466D-C6DE-BFBB-1101-6F482ADD73A0}"/>
              </a:ext>
            </a:extLst>
          </p:cNvPr>
          <p:cNvSpPr txBox="1"/>
          <p:nvPr/>
        </p:nvSpPr>
        <p:spPr>
          <a:xfrm>
            <a:off x="5078797" y="920868"/>
            <a:ext cx="20344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05</a:t>
            </a:r>
            <a:endParaRPr lang="zh-CN" altLang="en-US" sz="4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18541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BD48D-7193-4B24-46A1-8B89F804B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4480C69-346F-EDCA-4C55-F511C6A8CC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8041" y="231000"/>
            <a:ext cx="10368572" cy="406400"/>
          </a:xfrm>
        </p:spPr>
        <p:txBody>
          <a:bodyPr/>
          <a:lstStyle/>
          <a:p>
            <a:r>
              <a:rPr lang="en-US" altLang="zh-CN" dirty="0"/>
              <a:t>Experiment</a:t>
            </a:r>
          </a:p>
        </p:txBody>
      </p:sp>
      <p:sp>
        <p:nvSpPr>
          <p:cNvPr id="4" name="Shape 28">
            <a:extLst>
              <a:ext uri="{FF2B5EF4-FFF2-40B4-BE49-F238E27FC236}">
                <a16:creationId xmlns:a16="http://schemas.microsoft.com/office/drawing/2014/main" id="{CB9D7393-5DFE-B0C8-737A-A1CE005E8C67}"/>
              </a:ext>
            </a:extLst>
          </p:cNvPr>
          <p:cNvSpPr/>
          <p:nvPr/>
        </p:nvSpPr>
        <p:spPr>
          <a:xfrm>
            <a:off x="404834" y="972718"/>
            <a:ext cx="11405452" cy="5540049"/>
          </a:xfrm>
          <a:prstGeom prst="rect">
            <a:avLst/>
          </a:prstGeom>
          <a:solidFill>
            <a:srgbClr val="FFFFFF"/>
          </a:solidFill>
          <a:ln w="9525">
            <a:solidFill>
              <a:srgbClr val="EA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Shape 29">
            <a:extLst>
              <a:ext uri="{FF2B5EF4-FFF2-40B4-BE49-F238E27FC236}">
                <a16:creationId xmlns:a16="http://schemas.microsoft.com/office/drawing/2014/main" id="{DBA9B806-3E6C-D52D-58C0-864C3DF966DD}"/>
              </a:ext>
            </a:extLst>
          </p:cNvPr>
          <p:cNvSpPr/>
          <p:nvPr/>
        </p:nvSpPr>
        <p:spPr>
          <a:xfrm>
            <a:off x="404834" y="972718"/>
            <a:ext cx="73152" cy="134757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2EEFCD41-E300-79F5-02E2-B21F42A14809}"/>
              </a:ext>
            </a:extLst>
          </p:cNvPr>
          <p:cNvSpPr/>
          <p:nvPr/>
        </p:nvSpPr>
        <p:spPr>
          <a:xfrm>
            <a:off x="1118066" y="100319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7" name="Text 32">
            <a:extLst>
              <a:ext uri="{FF2B5EF4-FFF2-40B4-BE49-F238E27FC236}">
                <a16:creationId xmlns:a16="http://schemas.microsoft.com/office/drawing/2014/main" id="{AAAA2A9A-7EC5-57B3-FF63-3A022F83F095}"/>
              </a:ext>
            </a:extLst>
          </p:cNvPr>
          <p:cNvSpPr/>
          <p:nvPr/>
        </p:nvSpPr>
        <p:spPr>
          <a:xfrm>
            <a:off x="776690" y="1038250"/>
            <a:ext cx="2673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r>
              <a:rPr lang="en-US" altLang="zh-CN" sz="2000" b="1" dirty="0">
                <a:solidFill>
                  <a:srgbClr val="6B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- Daily Return</a:t>
            </a:r>
            <a:endParaRPr lang="en-US" sz="2000" b="1" dirty="0">
              <a:solidFill>
                <a:srgbClr val="6B0F1A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</p:txBody>
      </p:sp>
      <p:sp>
        <p:nvSpPr>
          <p:cNvPr id="8" name="Shape 33">
            <a:extLst>
              <a:ext uri="{FF2B5EF4-FFF2-40B4-BE49-F238E27FC236}">
                <a16:creationId xmlns:a16="http://schemas.microsoft.com/office/drawing/2014/main" id="{229E79C7-3C6D-88D5-84BD-CB298B9DE7F3}"/>
              </a:ext>
            </a:extLst>
          </p:cNvPr>
          <p:cNvSpPr/>
          <p:nvPr/>
        </p:nvSpPr>
        <p:spPr>
          <a:xfrm>
            <a:off x="606002" y="1560982"/>
            <a:ext cx="3291840" cy="0"/>
          </a:xfrm>
          <a:prstGeom prst="line">
            <a:avLst/>
          </a:prstGeom>
          <a:noFill/>
          <a:ln w="12700">
            <a:solidFill>
              <a:srgbClr val="F0DA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0F394A2-EB2F-9A91-C3CA-F0CFB6B6A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491" y="1266850"/>
            <a:ext cx="4081449" cy="194495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C35E828-E7DC-1953-0040-E3E9AD334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85" y="1626515"/>
            <a:ext cx="2761905" cy="148571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40E8CF1-F6E3-58E6-E54E-8CF2F19231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5728" y="4588828"/>
            <a:ext cx="2980952" cy="895238"/>
          </a:xfrm>
          <a:prstGeom prst="rect">
            <a:avLst/>
          </a:prstGeom>
        </p:spPr>
      </p:pic>
      <p:sp>
        <p:nvSpPr>
          <p:cNvPr id="13" name="Text 32">
            <a:extLst>
              <a:ext uri="{FF2B5EF4-FFF2-40B4-BE49-F238E27FC236}">
                <a16:creationId xmlns:a16="http://schemas.microsoft.com/office/drawing/2014/main" id="{C14322F9-1890-D230-DD8F-33A10906B543}"/>
              </a:ext>
            </a:extLst>
          </p:cNvPr>
          <p:cNvSpPr/>
          <p:nvPr/>
        </p:nvSpPr>
        <p:spPr>
          <a:xfrm>
            <a:off x="821094" y="3243554"/>
            <a:ext cx="2673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IC, ICIR</a:t>
            </a:r>
          </a:p>
        </p:txBody>
      </p:sp>
      <p:sp>
        <p:nvSpPr>
          <p:cNvPr id="14" name="Text 32">
            <a:extLst>
              <a:ext uri="{FF2B5EF4-FFF2-40B4-BE49-F238E27FC236}">
                <a16:creationId xmlns:a16="http://schemas.microsoft.com/office/drawing/2014/main" id="{CAE8BA71-136E-C72D-224D-287FA965405A}"/>
              </a:ext>
            </a:extLst>
          </p:cNvPr>
          <p:cNvSpPr/>
          <p:nvPr/>
        </p:nvSpPr>
        <p:spPr>
          <a:xfrm>
            <a:off x="821094" y="3615406"/>
            <a:ext cx="9112950" cy="2593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某一天（如 </a:t>
            </a:r>
            <a:r>
              <a:rPr lang="en-US" altLang="zh-CN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2017-01-03</a:t>
            </a:r>
            <a:r>
              <a:rPr lang="zh-CN" altLang="en-US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）：  </a:t>
            </a:r>
            <a:endParaRPr lang="en-US" altLang="zh-CN" sz="2000" dirty="0">
              <a:latin typeface="Times New Roman" panose="02020603050405020304" pitchFamily="18" charset="0"/>
              <a:ea typeface="Trebuchet MS" pitchFamily="34" charset="-122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所有股票的 </a:t>
            </a:r>
            <a:r>
              <a:rPr lang="en-US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pred </a:t>
            </a:r>
            <a:r>
              <a:rPr lang="zh-CN" altLang="en-US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和 </a:t>
            </a:r>
            <a:r>
              <a:rPr lang="en-US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label </a:t>
            </a:r>
            <a:r>
              <a:rPr lang="zh-CN" altLang="en-US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组成一对一对的数据  </a:t>
            </a:r>
            <a:endParaRPr lang="en-US" altLang="zh-CN" sz="2000" dirty="0">
              <a:latin typeface="Times New Roman" panose="02020603050405020304" pitchFamily="18" charset="0"/>
              <a:ea typeface="Trebuchet MS" pitchFamily="34" charset="-122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→ </a:t>
            </a:r>
            <a:r>
              <a:rPr lang="en-US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pred = [-0.045, -0.089, 0.006, 0.026, ...]  </a:t>
            </a:r>
          </a:p>
          <a:p>
            <a:r>
              <a:rPr lang="en-US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→ label = [</a:t>
            </a:r>
            <a:r>
              <a:rPr lang="zh-CN" altLang="en-US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真实收益率</a:t>
            </a:r>
            <a:r>
              <a:rPr lang="en-US" altLang="zh-CN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]</a:t>
            </a:r>
          </a:p>
          <a:p>
            <a:r>
              <a:rPr lang="en-US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IC = pred </a:t>
            </a:r>
            <a:r>
              <a:rPr lang="zh-CN" altLang="en-US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与 </a:t>
            </a:r>
            <a:r>
              <a:rPr lang="en-US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label </a:t>
            </a:r>
            <a:r>
              <a:rPr lang="zh-CN" altLang="en-US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的 </a:t>
            </a:r>
            <a:r>
              <a:rPr lang="en-US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Pearson </a:t>
            </a:r>
            <a:r>
              <a:rPr lang="zh-CN" altLang="en-US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相关系数    </a:t>
            </a:r>
            <a:r>
              <a:rPr lang="en-US" altLang="zh-CN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当天预测准不准</a:t>
            </a:r>
            <a:r>
              <a:rPr lang="en-US" altLang="zh-CN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)</a:t>
            </a:r>
          </a:p>
          <a:p>
            <a:r>
              <a:rPr lang="en-US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Rank IC  = pred </a:t>
            </a:r>
            <a:r>
              <a:rPr lang="zh-CN" altLang="en-US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与 </a:t>
            </a:r>
            <a:r>
              <a:rPr lang="en-US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label </a:t>
            </a:r>
            <a:r>
              <a:rPr lang="zh-CN" altLang="en-US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的 </a:t>
            </a:r>
            <a:r>
              <a:rPr lang="en-US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Spearman </a:t>
            </a:r>
            <a:r>
              <a:rPr lang="zh-CN" altLang="en-US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秩相关系数 </a:t>
            </a:r>
            <a:r>
              <a:rPr lang="en-US" altLang="zh-CN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当天排序准不准</a:t>
            </a:r>
            <a:r>
              <a:rPr lang="en-US" altLang="zh-CN" sz="2000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ea typeface="Trebuchet MS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164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783F5-CD9D-AEF1-17B3-AAB614D8D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DA587E3-6E6E-FADB-D1D4-D1AA8FF91B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8041" y="231000"/>
            <a:ext cx="10368572" cy="406400"/>
          </a:xfrm>
        </p:spPr>
        <p:txBody>
          <a:bodyPr/>
          <a:lstStyle/>
          <a:p>
            <a:r>
              <a:rPr lang="en-US" altLang="zh-CN" dirty="0"/>
              <a:t>Experiment</a:t>
            </a:r>
          </a:p>
        </p:txBody>
      </p:sp>
      <p:sp>
        <p:nvSpPr>
          <p:cNvPr id="4" name="Shape 28">
            <a:extLst>
              <a:ext uri="{FF2B5EF4-FFF2-40B4-BE49-F238E27FC236}">
                <a16:creationId xmlns:a16="http://schemas.microsoft.com/office/drawing/2014/main" id="{C88D8935-1D6B-FF4E-ACCC-49B821553BAB}"/>
              </a:ext>
            </a:extLst>
          </p:cNvPr>
          <p:cNvSpPr/>
          <p:nvPr/>
        </p:nvSpPr>
        <p:spPr>
          <a:xfrm>
            <a:off x="404834" y="972718"/>
            <a:ext cx="11405452" cy="5540049"/>
          </a:xfrm>
          <a:prstGeom prst="rect">
            <a:avLst/>
          </a:prstGeom>
          <a:solidFill>
            <a:srgbClr val="FFFFFF"/>
          </a:solidFill>
          <a:ln w="9525">
            <a:solidFill>
              <a:srgbClr val="EAD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Shape 29">
            <a:extLst>
              <a:ext uri="{FF2B5EF4-FFF2-40B4-BE49-F238E27FC236}">
                <a16:creationId xmlns:a16="http://schemas.microsoft.com/office/drawing/2014/main" id="{F97C4E7A-4E57-71B6-EB4D-D04934665692}"/>
              </a:ext>
            </a:extLst>
          </p:cNvPr>
          <p:cNvSpPr/>
          <p:nvPr/>
        </p:nvSpPr>
        <p:spPr>
          <a:xfrm>
            <a:off x="404834" y="972718"/>
            <a:ext cx="73152" cy="134757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0457F903-D44E-9EC1-ACCE-F72466AE93CE}"/>
              </a:ext>
            </a:extLst>
          </p:cNvPr>
          <p:cNvSpPr/>
          <p:nvPr/>
        </p:nvSpPr>
        <p:spPr>
          <a:xfrm>
            <a:off x="1118066" y="100319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7" name="Text 32">
            <a:extLst>
              <a:ext uri="{FF2B5EF4-FFF2-40B4-BE49-F238E27FC236}">
                <a16:creationId xmlns:a16="http://schemas.microsoft.com/office/drawing/2014/main" id="{2A7492FB-5790-7530-635F-D4DDC7343E3B}"/>
              </a:ext>
            </a:extLst>
          </p:cNvPr>
          <p:cNvSpPr/>
          <p:nvPr/>
        </p:nvSpPr>
        <p:spPr>
          <a:xfrm>
            <a:off x="776690" y="1038250"/>
            <a:ext cx="2673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6B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TopkDropoutStrategy</a:t>
            </a:r>
            <a:endParaRPr lang="en-US" sz="2000" b="1" dirty="0">
              <a:solidFill>
                <a:srgbClr val="6B0F1A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</p:txBody>
      </p:sp>
      <p:sp>
        <p:nvSpPr>
          <p:cNvPr id="8" name="Shape 33">
            <a:extLst>
              <a:ext uri="{FF2B5EF4-FFF2-40B4-BE49-F238E27FC236}">
                <a16:creationId xmlns:a16="http://schemas.microsoft.com/office/drawing/2014/main" id="{1C44E20C-9B3D-10A0-1ED4-37FF337E6083}"/>
              </a:ext>
            </a:extLst>
          </p:cNvPr>
          <p:cNvSpPr/>
          <p:nvPr/>
        </p:nvSpPr>
        <p:spPr>
          <a:xfrm>
            <a:off x="606002" y="1560982"/>
            <a:ext cx="3291840" cy="0"/>
          </a:xfrm>
          <a:prstGeom prst="line">
            <a:avLst/>
          </a:prstGeom>
          <a:noFill/>
          <a:ln w="12700">
            <a:solidFill>
              <a:srgbClr val="F0DA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32">
            <a:extLst>
              <a:ext uri="{FF2B5EF4-FFF2-40B4-BE49-F238E27FC236}">
                <a16:creationId xmlns:a16="http://schemas.microsoft.com/office/drawing/2014/main" id="{50543337-E099-B333-3814-5955B11E534C}"/>
              </a:ext>
            </a:extLst>
          </p:cNvPr>
          <p:cNvSpPr/>
          <p:nvPr/>
        </p:nvSpPr>
        <p:spPr>
          <a:xfrm>
            <a:off x="776690" y="1343050"/>
            <a:ext cx="9112950" cy="92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每天用模型给所有股票打分 → 卖掉持仓里分最低的 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5 </a:t>
            </a:r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只 → 买入没持仓里分最高的若干只 → 保持持仓约 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50 </a:t>
            </a:r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只股票 → 等权分配资金。</a:t>
            </a:r>
            <a:endParaRPr lang="en-US" dirty="0">
              <a:latin typeface="Times New Roman" panose="02020603050405020304" pitchFamily="18" charset="0"/>
              <a:ea typeface="Trebuchet MS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Text 32">
            <a:extLst>
              <a:ext uri="{FF2B5EF4-FFF2-40B4-BE49-F238E27FC236}">
                <a16:creationId xmlns:a16="http://schemas.microsoft.com/office/drawing/2014/main" id="{A93B166E-DE56-E632-ED38-EA3E5B1F3F8E}"/>
              </a:ext>
            </a:extLst>
          </p:cNvPr>
          <p:cNvSpPr/>
          <p:nvPr/>
        </p:nvSpPr>
        <p:spPr>
          <a:xfrm>
            <a:off x="776689" y="2219177"/>
            <a:ext cx="9934853" cy="4310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每天开盘前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:  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用 </a:t>
            </a:r>
            <a:r>
              <a:rPr lang="en-US" altLang="zh-CN" dirty="0" err="1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model.predict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() </a:t>
            </a:r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算出当天所有股票的 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score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当前持仓 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= [A, B, C, D, E, F, G]  (7</a:t>
            </a:r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只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) 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topk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=50, </a:t>
            </a:r>
            <a:r>
              <a:rPr lang="en-US" altLang="zh-CN" dirty="0" err="1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n_drop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=5</a:t>
            </a:r>
          </a:p>
          <a:p>
            <a:endParaRPr lang="en-US" altLang="zh-CN" dirty="0">
              <a:latin typeface="Times New Roman" panose="02020603050405020304" pitchFamily="18" charset="0"/>
              <a:ea typeface="Trebuchet MS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	Step 1: </a:t>
            </a:r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按 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score </a:t>
            </a:r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排序所有股票</a:t>
            </a:r>
            <a:endParaRPr lang="en-US" altLang="zh-CN" dirty="0">
              <a:latin typeface="Times New Roman" panose="02020603050405020304" pitchFamily="18" charset="0"/>
              <a:ea typeface="Trebuchet MS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	Step 2: </a:t>
            </a:r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要卖的 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= </a:t>
            </a:r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持仓中 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score </a:t>
            </a:r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最低的 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5 </a:t>
            </a:r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只 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n_drop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) 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	             → </a:t>
            </a:r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比如 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F, G, D, C, B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	Step 3: </a:t>
            </a:r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要买的 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= </a:t>
            </a:r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不在持仓中 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score </a:t>
            </a:r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最高的 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n_drop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 + </a:t>
            </a:r>
            <a:r>
              <a:rPr lang="en-US" altLang="zh-CN" dirty="0" err="1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topk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 - </a:t>
            </a:r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当前持仓数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只          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	             	             </a:t>
            </a:r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→ 从候选池里挑最好的补进来</a:t>
            </a:r>
            <a:endParaRPr lang="en-US" altLang="zh-CN" dirty="0">
              <a:latin typeface="Times New Roman" panose="02020603050405020304" pitchFamily="18" charset="0"/>
              <a:ea typeface="Trebuchet MS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	Step 4: </a:t>
            </a:r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最终持仓始终维持在 </a:t>
            </a:r>
            <a:r>
              <a:rPr lang="en-US" altLang="zh-CN" dirty="0" err="1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topk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 ≈ 50 </a:t>
            </a:r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只</a:t>
            </a:r>
            <a:endParaRPr lang="en-US" altLang="zh-CN" dirty="0">
              <a:latin typeface="Times New Roman" panose="02020603050405020304" pitchFamily="18" charset="0"/>
              <a:ea typeface="Trebuchet MS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Trebuchet MS" pitchFamily="34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资金分配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:  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cash_to_spend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 = </a:t>
            </a:r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当前现金 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× 0.95 (</a:t>
            </a:r>
            <a:r>
              <a:rPr lang="en-US" altLang="zh-CN" dirty="0" err="1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risk_degree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) 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每只买入股票分到 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= </a:t>
            </a:r>
            <a:r>
              <a:rPr lang="en-US" altLang="zh-CN" dirty="0" err="1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cash_to_spend</a:t>
            </a:r>
            <a:r>
              <a:rPr lang="en-US" altLang="zh-CN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 / </a:t>
            </a:r>
            <a:r>
              <a:rPr lang="zh-CN" altLang="en-US" dirty="0"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买入只数</a:t>
            </a:r>
            <a:endParaRPr lang="en-US" dirty="0">
              <a:latin typeface="Times New Roman" panose="02020603050405020304" pitchFamily="18" charset="0"/>
              <a:ea typeface="Trebuchet MS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6841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96377-C385-9791-EA0C-9D574634B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2A5880F-50EB-F52D-0EE9-FDF7D749B1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8041" y="231000"/>
            <a:ext cx="10368572" cy="406400"/>
          </a:xfrm>
        </p:spPr>
        <p:txBody>
          <a:bodyPr/>
          <a:lstStyle/>
          <a:p>
            <a:r>
              <a:rPr lang="en-US" altLang="zh-CN" dirty="0"/>
              <a:t>Experiment</a:t>
            </a:r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0891F180-1D04-0369-E7CF-6997AEA773D2}"/>
              </a:ext>
            </a:extLst>
          </p:cNvPr>
          <p:cNvSpPr/>
          <p:nvPr/>
        </p:nvSpPr>
        <p:spPr>
          <a:xfrm>
            <a:off x="1118066" y="100319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FC4FF8B-601B-5F72-2659-EF1C3E6D4D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106" y="1140358"/>
            <a:ext cx="7557407" cy="539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7639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A53DD-53A7-2F21-0DDB-ABB302F45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ECC38F4-5E46-60A0-2AC1-53F0D99B2B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8041" y="231000"/>
            <a:ext cx="10368572" cy="406400"/>
          </a:xfrm>
        </p:spPr>
        <p:txBody>
          <a:bodyPr/>
          <a:lstStyle/>
          <a:p>
            <a:r>
              <a:rPr lang="en-US" altLang="zh-CN" dirty="0"/>
              <a:t>Experiment</a:t>
            </a:r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601ACF6D-5484-9214-E3CF-1265C48CB6F2}"/>
              </a:ext>
            </a:extLst>
          </p:cNvPr>
          <p:cNvSpPr/>
          <p:nvPr/>
        </p:nvSpPr>
        <p:spPr>
          <a:xfrm>
            <a:off x="1118066" y="100319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37BFC7C-7C06-BC26-C430-F19C674C2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250" y="1277518"/>
            <a:ext cx="6667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0701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C1A4C-2D51-C085-B9A3-218E8FB49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125117A-17B5-B18C-38F2-B008E2EBD1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8041" y="231000"/>
            <a:ext cx="10368572" cy="406400"/>
          </a:xfrm>
        </p:spPr>
        <p:txBody>
          <a:bodyPr/>
          <a:lstStyle/>
          <a:p>
            <a:r>
              <a:rPr lang="en-US" altLang="zh-CN" dirty="0"/>
              <a:t>Experiment</a:t>
            </a:r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1F8B6DAE-E79F-48C6-1E03-811783103CF7}"/>
              </a:ext>
            </a:extLst>
          </p:cNvPr>
          <p:cNvSpPr/>
          <p:nvPr/>
        </p:nvSpPr>
        <p:spPr>
          <a:xfrm>
            <a:off x="1118066" y="100319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38CB740-CEB4-F7B2-29A3-1BEB0EFE4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250" y="1277518"/>
            <a:ext cx="6667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9508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FE0BF-24D6-3559-B6BC-27FBA92F3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F7F4774-1A99-8588-6EC7-092B2D6D29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8041" y="231000"/>
            <a:ext cx="10368572" cy="406400"/>
          </a:xfrm>
        </p:spPr>
        <p:txBody>
          <a:bodyPr/>
          <a:lstStyle/>
          <a:p>
            <a:r>
              <a:rPr lang="en-US" altLang="zh-CN" dirty="0"/>
              <a:t>Experiment</a:t>
            </a:r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9EB09EDE-70AA-74D3-1DF9-FB557361DA07}"/>
              </a:ext>
            </a:extLst>
          </p:cNvPr>
          <p:cNvSpPr/>
          <p:nvPr/>
        </p:nvSpPr>
        <p:spPr>
          <a:xfrm>
            <a:off x="1118066" y="100319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36ACDFB-A26B-2D90-325C-C593992864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250" y="1277518"/>
            <a:ext cx="6667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2490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7F022-A701-8E42-C037-023A69BD2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D1C0A7B-A477-C684-2DD9-BF60631641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8041" y="231000"/>
            <a:ext cx="10368572" cy="406400"/>
          </a:xfrm>
        </p:spPr>
        <p:txBody>
          <a:bodyPr/>
          <a:lstStyle/>
          <a:p>
            <a:r>
              <a:rPr lang="en-US" altLang="zh-CN" dirty="0"/>
              <a:t>Experiment</a:t>
            </a:r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6251BB6B-90BD-93B6-96A7-7444BB9F2638}"/>
              </a:ext>
            </a:extLst>
          </p:cNvPr>
          <p:cNvSpPr/>
          <p:nvPr/>
        </p:nvSpPr>
        <p:spPr>
          <a:xfrm>
            <a:off x="1118066" y="100319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A7B62E9-8B65-C059-6390-44A4F0329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45" y="1277518"/>
            <a:ext cx="6667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2347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05E2F-A950-FECA-C1EC-68C8909D5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B536EFF-BD5A-65A6-9842-345EF99607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8041" y="231000"/>
            <a:ext cx="10368572" cy="406400"/>
          </a:xfrm>
        </p:spPr>
        <p:txBody>
          <a:bodyPr/>
          <a:lstStyle/>
          <a:p>
            <a:r>
              <a:rPr lang="en-US" altLang="zh-CN" dirty="0"/>
              <a:t>Experiment</a:t>
            </a:r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1AF63571-4BBA-FBDD-ABDC-4B38E105AF21}"/>
              </a:ext>
            </a:extLst>
          </p:cNvPr>
          <p:cNvSpPr/>
          <p:nvPr/>
        </p:nvSpPr>
        <p:spPr>
          <a:xfrm>
            <a:off x="1118066" y="100319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EBFF79E-4921-6220-10B7-B597013116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58" b="6155"/>
          <a:stretch>
            <a:fillRect/>
          </a:stretch>
        </p:blipFill>
        <p:spPr>
          <a:xfrm>
            <a:off x="876688" y="860682"/>
            <a:ext cx="4000500" cy="589694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F790387-4AD8-8169-B8C3-2BD89BC2E3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8566" y="1277518"/>
            <a:ext cx="6667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7002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0CF35-278C-269D-055B-0D322BEBA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C12C51F-0AAD-F4FF-B5FD-6EBFB478DE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8041" y="231000"/>
            <a:ext cx="10368572" cy="406400"/>
          </a:xfrm>
        </p:spPr>
        <p:txBody>
          <a:bodyPr/>
          <a:lstStyle/>
          <a:p>
            <a:r>
              <a:rPr lang="en-US" altLang="zh-CN" dirty="0"/>
              <a:t>Experiment</a:t>
            </a:r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93180947-43DC-FA78-9B43-0D6D835F8E31}"/>
              </a:ext>
            </a:extLst>
          </p:cNvPr>
          <p:cNvSpPr/>
          <p:nvPr/>
        </p:nvSpPr>
        <p:spPr>
          <a:xfrm>
            <a:off x="1118066" y="100319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DE249FE-5D45-520A-5205-874C1DB0E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250" y="1277518"/>
            <a:ext cx="6667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9394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F4292-FFE3-1F27-35DD-F706A462F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2E43A0F7-2B1A-E9B1-601B-C94154EBE0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4719"/>
            <a:ext cx="12192001" cy="467359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01DE048-0C4D-0965-70B2-DB5C5B8C63F0}"/>
              </a:ext>
            </a:extLst>
          </p:cNvPr>
          <p:cNvSpPr/>
          <p:nvPr/>
        </p:nvSpPr>
        <p:spPr>
          <a:xfrm>
            <a:off x="0" y="-4720"/>
            <a:ext cx="12192000" cy="4673600"/>
          </a:xfrm>
          <a:prstGeom prst="rect">
            <a:avLst/>
          </a:prstGeom>
          <a:gradFill>
            <a:gsLst>
              <a:gs pos="100000">
                <a:schemeClr val="accent1">
                  <a:alpha val="20000"/>
                </a:schemeClr>
              </a:gs>
              <a:gs pos="0">
                <a:schemeClr val="accent1">
                  <a:alpha val="8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B65E3F7-A448-E8B7-6EBF-60E13E31DE08}"/>
              </a:ext>
            </a:extLst>
          </p:cNvPr>
          <p:cNvSpPr/>
          <p:nvPr/>
        </p:nvSpPr>
        <p:spPr>
          <a:xfrm>
            <a:off x="696000" y="968903"/>
            <a:ext cx="10800000" cy="5237706"/>
          </a:xfrm>
          <a:prstGeom prst="roundRect">
            <a:avLst>
              <a:gd name="adj" fmla="val 4424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657121B-70CA-1DD7-799E-9A9F2FBC1E50}"/>
              </a:ext>
            </a:extLst>
          </p:cNvPr>
          <p:cNvCxnSpPr>
            <a:cxnSpLocks/>
          </p:cNvCxnSpPr>
          <p:nvPr/>
        </p:nvCxnSpPr>
        <p:spPr>
          <a:xfrm>
            <a:off x="2414260" y="9530927"/>
            <a:ext cx="8119382" cy="0"/>
          </a:xfrm>
          <a:prstGeom prst="line">
            <a:avLst/>
          </a:prstGeom>
          <a:ln w="9525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177FEA49-1BFC-7D72-9F7E-0F282231AD2B}"/>
              </a:ext>
            </a:extLst>
          </p:cNvPr>
          <p:cNvSpPr txBox="1"/>
          <p:nvPr/>
        </p:nvSpPr>
        <p:spPr>
          <a:xfrm>
            <a:off x="3432953" y="3606313"/>
            <a:ext cx="5680567" cy="94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kern="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WorldQuant Platform: </a:t>
            </a:r>
          </a:p>
          <a:p>
            <a:pPr algn="ctr">
              <a:lnSpc>
                <a:spcPct val="120000"/>
              </a:lnSpc>
            </a:pPr>
            <a:r>
              <a:rPr lang="en-US" altLang="zh-CN" sz="2400" kern="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Practical Experience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E9FE03A-8B6A-9706-5738-4E06C651F600}"/>
              </a:ext>
            </a:extLst>
          </p:cNvPr>
          <p:cNvSpPr txBox="1"/>
          <p:nvPr/>
        </p:nvSpPr>
        <p:spPr>
          <a:xfrm>
            <a:off x="4874573" y="1533064"/>
            <a:ext cx="24428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K" altLang="zh-CN" sz="4800" b="1" i="1" dirty="0">
                <a:solidFill>
                  <a:srgbClr val="FF0000"/>
                </a:solidFill>
              </a:rPr>
              <a:t>Thanks!</a:t>
            </a:r>
          </a:p>
          <a:p>
            <a:pPr algn="ctr"/>
            <a:r>
              <a:rPr lang="en-HK" altLang="zh-CN" sz="4800" b="1" i="1" dirty="0">
                <a:solidFill>
                  <a:srgbClr val="FF0000"/>
                </a:solidFill>
              </a:rPr>
              <a:t>Q</a:t>
            </a:r>
            <a:r>
              <a:rPr lang="en-US" altLang="zh-CN" sz="4800" b="1" i="1" dirty="0">
                <a:solidFill>
                  <a:srgbClr val="FF0000"/>
                </a:solidFill>
              </a:rPr>
              <a:t>&amp;A</a:t>
            </a:r>
            <a:endParaRPr lang="en-HK" altLang="zh-CN" sz="4800" b="1" i="1" dirty="0">
              <a:solidFill>
                <a:srgbClr val="FF0000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28E8AC8-662E-3564-C43A-DF8D2FD0AEA5}"/>
              </a:ext>
            </a:extLst>
          </p:cNvPr>
          <p:cNvSpPr/>
          <p:nvPr/>
        </p:nvSpPr>
        <p:spPr>
          <a:xfrm>
            <a:off x="3697114" y="5348027"/>
            <a:ext cx="1920060" cy="39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 defTabSz="914377">
              <a:defRPr/>
            </a:pPr>
            <a:r>
              <a:rPr lang="en-US" altLang="zh-CN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Yuxuan WANG</a:t>
            </a:r>
            <a:endParaRPr lang="zh-CN" altLang="en-US" sz="1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D952A0C-E6F5-09E4-1B4A-27C99906068F}"/>
              </a:ext>
            </a:extLst>
          </p:cNvPr>
          <p:cNvSpPr/>
          <p:nvPr/>
        </p:nvSpPr>
        <p:spPr>
          <a:xfrm>
            <a:off x="6042701" y="5348027"/>
            <a:ext cx="2403936" cy="39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 defTabSz="914377">
              <a:defRPr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 June 2026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AA0F75F-900B-FC45-F407-F6DACD33CF97}"/>
              </a:ext>
            </a:extLst>
          </p:cNvPr>
          <p:cNvCxnSpPr>
            <a:cxnSpLocks/>
          </p:cNvCxnSpPr>
          <p:nvPr/>
        </p:nvCxnSpPr>
        <p:spPr>
          <a:xfrm>
            <a:off x="8586931" y="4060739"/>
            <a:ext cx="21600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8FC9FEC-08DA-8A2C-B3F6-998069080EE3}"/>
              </a:ext>
            </a:extLst>
          </p:cNvPr>
          <p:cNvCxnSpPr>
            <a:cxnSpLocks/>
          </p:cNvCxnSpPr>
          <p:nvPr/>
        </p:nvCxnSpPr>
        <p:spPr>
          <a:xfrm>
            <a:off x="1415667" y="4060739"/>
            <a:ext cx="21600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28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自定义 150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20000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14248</TotalTime>
  <Words>2572</Words>
  <Application>Microsoft Office PowerPoint</Application>
  <PresentationFormat>宽屏</PresentationFormat>
  <Paragraphs>526</Paragraphs>
  <Slides>32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9" baseType="lpstr">
      <vt:lpstr>等线</vt:lpstr>
      <vt:lpstr>等线 Light</vt:lpstr>
      <vt:lpstr>微软雅黑</vt:lpstr>
      <vt:lpstr>Arial</vt:lpstr>
      <vt:lpstr>Times New Roman</vt:lpstr>
      <vt:lpstr>Trebuchet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SYS</dc:creator>
  <cp:lastModifiedBy>WANG, Albus Yuxuan [AF]</cp:lastModifiedBy>
  <cp:revision>646</cp:revision>
  <dcterms:created xsi:type="dcterms:W3CDTF">2025-05-12T09:52:44Z</dcterms:created>
  <dcterms:modified xsi:type="dcterms:W3CDTF">2026-07-14T03:21:17Z</dcterms:modified>
</cp:coreProperties>
</file>